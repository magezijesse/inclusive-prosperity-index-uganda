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5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50" r:id="rId1"/>
  </p:sldMasterIdLst>
  <p:notesMasterIdLst>
    <p:notesMasterId r:id="rId2"/>
  </p:notesMasterIdLst>
  <p:sldIdLst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</p:sldIdLst>
  <p:sldSz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ableStyles" Target="tableStyle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81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9082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908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08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8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0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0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2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2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5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5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8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8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1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1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6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6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1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0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4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04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8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1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1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7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5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7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07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51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hyperlink" Target="http://claude.ai/public/artifacts/6f5703d2-d0d7-4602-abdb-c211912f5d16" TargetMode="External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D2C"/>
        </a:solidFill>
      </p:bgPr>
    </p:bg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5" name="Shape 0"/>
          <p:cNvSpPr/>
          <p:nvPr/>
        </p:nvSpPr>
        <p:spPr>
          <a:xfrm>
            <a:off x="5852160" y="0"/>
            <a:ext cx="3291840" cy="5143500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786" name="Shape 1"/>
          <p:cNvSpPr/>
          <p:nvPr/>
        </p:nvSpPr>
        <p:spPr>
          <a:xfrm>
            <a:off x="5806440" y="0"/>
            <a:ext cx="73152" cy="5143500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787" name="Shape 2"/>
          <p:cNvSpPr/>
          <p:nvPr/>
        </p:nvSpPr>
        <p:spPr>
          <a:xfrm>
            <a:off x="6400800" y="274320"/>
            <a:ext cx="1828800" cy="1828800"/>
          </a:xfrm>
          <a:prstGeom prst="ellipse"/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48788" name="Shape 3"/>
          <p:cNvSpPr/>
          <p:nvPr/>
        </p:nvSpPr>
        <p:spPr>
          <a:xfrm>
            <a:off x="6949440" y="2560320"/>
            <a:ext cx="1280160" cy="1280160"/>
          </a:xfrm>
          <a:prstGeom prst="ellipse"/>
          <a:solidFill>
            <a:srgbClr val="D4A017">
              <a:alpha val="30000"/>
            </a:srgbClr>
          </a:solidFill>
          <a:ln w="12700">
            <a:solidFill>
              <a:srgbClr val="D4A017">
                <a:alpha val="30000"/>
              </a:srgbClr>
            </a:solidFill>
            <a:prstDash val="solid"/>
          </a:ln>
        </p:spPr>
      </p:sp>
      <p:sp>
        <p:nvSpPr>
          <p:cNvPr id="1048789" name="Shape 4"/>
          <p:cNvSpPr/>
          <p:nvPr/>
        </p:nvSpPr>
        <p:spPr>
          <a:xfrm>
            <a:off x="6035040" y="3474720"/>
            <a:ext cx="822960" cy="822960"/>
          </a:xfrm>
          <a:prstGeom prst="ellipse"/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48790" name="Text 5"/>
          <p:cNvSpPr/>
          <p:nvPr/>
        </p:nvSpPr>
        <p:spPr>
          <a:xfrm>
            <a:off x="5943600" y="1188720"/>
            <a:ext cx="3017520" cy="7315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i="1" lang="en-US">
                <a:solidFill>
                  <a:srgbClr val="F5E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UBOS / UNHS</a:t>
            </a:r>
            <a:endParaRPr dirty="0" sz="1000" lang="en-US"/>
          </a:p>
          <a:p>
            <a:pPr algn="ctr" indent="0" marL="0">
              <a:buNone/>
            </a:pPr>
            <a:r>
              <a:rPr dirty="0" sz="1000" i="1" lang="en-US">
                <a:solidFill>
                  <a:srgbClr val="F5E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2019/2020</a:t>
            </a:r>
            <a:endParaRPr dirty="0" sz="1000" lang="en-US"/>
          </a:p>
        </p:txBody>
      </p:sp>
      <p:sp>
        <p:nvSpPr>
          <p:cNvPr id="1048791" name="Text 6"/>
          <p:cNvSpPr/>
          <p:nvPr/>
        </p:nvSpPr>
        <p:spPr>
          <a:xfrm>
            <a:off x="5943600" y="3108960"/>
            <a:ext cx="3017520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Statistics</a:t>
            </a:r>
            <a:endParaRPr dirty="0" sz="1000" lang="en-US"/>
          </a:p>
          <a:p>
            <a:pPr algn="ctr" indent="0" marL="0">
              <a:buNone/>
            </a:pPr>
            <a:r>
              <a:rPr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2025</a:t>
            </a:r>
            <a:endParaRPr dirty="0" sz="1000" lang="en-US"/>
          </a:p>
        </p:txBody>
      </p:sp>
      <p:sp>
        <p:nvSpPr>
          <p:cNvPr id="1048792" name="Text 7"/>
          <p:cNvSpPr/>
          <p:nvPr/>
        </p:nvSpPr>
        <p:spPr>
          <a:xfrm>
            <a:off x="411480" y="457200"/>
            <a:ext cx="521208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800" kern="0" lang="en-US" spc="80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</a:t>
            </a:r>
            <a:endParaRPr dirty="0" sz="3800" lang="en-US"/>
          </a:p>
        </p:txBody>
      </p:sp>
      <p:sp>
        <p:nvSpPr>
          <p:cNvPr id="1048793" name="Text 8"/>
          <p:cNvSpPr/>
          <p:nvPr/>
        </p:nvSpPr>
        <p:spPr>
          <a:xfrm>
            <a:off x="411480" y="1024128"/>
            <a:ext cx="521208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800" kern="0" lang="en-US" spc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PROSPERITY</a:t>
            </a:r>
            <a:endParaRPr dirty="0" sz="3800" lang="en-US"/>
          </a:p>
        </p:txBody>
      </p:sp>
      <p:sp>
        <p:nvSpPr>
          <p:cNvPr id="1048794" name="Text 9"/>
          <p:cNvSpPr/>
          <p:nvPr/>
        </p:nvSpPr>
        <p:spPr>
          <a:xfrm>
            <a:off x="411480" y="1591056"/>
            <a:ext cx="521208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800" kern="0" lang="en-US" spc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dirty="0" sz="3800" lang="en-US"/>
          </a:p>
        </p:txBody>
      </p:sp>
      <p:sp>
        <p:nvSpPr>
          <p:cNvPr id="1048795" name="Shape 10"/>
          <p:cNvSpPr/>
          <p:nvPr/>
        </p:nvSpPr>
        <p:spPr>
          <a:xfrm>
            <a:off x="411480" y="2267712"/>
            <a:ext cx="2560320" cy="41148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796" name="Text 11"/>
          <p:cNvSpPr/>
          <p:nvPr/>
        </p:nvSpPr>
        <p:spPr>
          <a:xfrm>
            <a:off x="411480" y="2377440"/>
            <a:ext cx="5212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600" kern="0" lang="en-US" spc="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UGANDA</a:t>
            </a:r>
            <a:endParaRPr dirty="0" sz="1600" lang="en-US"/>
          </a:p>
        </p:txBody>
      </p:sp>
      <p:sp>
        <p:nvSpPr>
          <p:cNvPr id="1048797" name="Text 12"/>
          <p:cNvSpPr/>
          <p:nvPr/>
        </p:nvSpPr>
        <p:spPr>
          <a:xfrm>
            <a:off x="411480" y="2880360"/>
            <a:ext cx="521208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i="1" lang="en-US">
                <a:solidFill>
                  <a:srgbClr val="7A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Statistical Innovation, Machine Learning &amp;</a:t>
            </a:r>
            <a:endParaRPr dirty="0" sz="1100" lang="en-US"/>
          </a:p>
          <a:p>
            <a:pPr indent="0" marL="0">
              <a:buNone/>
            </a:pPr>
            <a:r>
              <a:rPr dirty="0" sz="1100" i="1" lang="en-US">
                <a:solidFill>
                  <a:srgbClr val="7A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Analytics for an Inclusive, Prosperous Society</a:t>
            </a:r>
            <a:endParaRPr dirty="0" sz="1100" lang="en-US"/>
          </a:p>
        </p:txBody>
      </p:sp>
      <p:sp>
        <p:nvSpPr>
          <p:cNvPr id="1048798" name="Shape 13"/>
          <p:cNvSpPr/>
          <p:nvPr/>
        </p:nvSpPr>
        <p:spPr>
          <a:xfrm>
            <a:off x="0" y="4892040"/>
            <a:ext cx="1828800" cy="251460"/>
          </a:xfrm>
          <a:prstGeom prst="rect"/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48799" name="Shape 14"/>
          <p:cNvSpPr/>
          <p:nvPr/>
        </p:nvSpPr>
        <p:spPr>
          <a:xfrm>
            <a:off x="1828800" y="4892040"/>
            <a:ext cx="1828800" cy="251460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800" name="Shape 15"/>
          <p:cNvSpPr/>
          <p:nvPr/>
        </p:nvSpPr>
        <p:spPr>
          <a:xfrm>
            <a:off x="3657600" y="4892040"/>
            <a:ext cx="2194560" cy="251460"/>
          </a:xfrm>
          <a:prstGeom prst="rect"/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5"/>
        </a:solidFill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4" name="Shape 0"/>
          <p:cNvSpPr/>
          <p:nvPr/>
        </p:nvSpPr>
        <p:spPr>
          <a:xfrm>
            <a:off x="0" y="0"/>
            <a:ext cx="9144000" cy="822960"/>
          </a:xfrm>
          <a:prstGeom prst="rect"/>
          <a:solidFill>
            <a:srgbClr val="004D2C"/>
          </a:solidFill>
          <a:ln w="12700">
            <a:solidFill>
              <a:srgbClr val="004D2C"/>
            </a:solidFill>
            <a:prstDash val="solid"/>
          </a:ln>
        </p:spPr>
      </p:sp>
      <p:sp>
        <p:nvSpPr>
          <p:cNvPr id="1048805" name="Shape 1"/>
          <p:cNvSpPr/>
          <p:nvPr/>
        </p:nvSpPr>
        <p:spPr>
          <a:xfrm>
            <a:off x="0" y="822960"/>
            <a:ext cx="9144000" cy="5029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806" name="Text 2"/>
          <p:cNvSpPr/>
          <p:nvPr/>
        </p:nvSpPr>
        <p:spPr>
          <a:xfrm>
            <a:off x="411480" y="0"/>
            <a:ext cx="832104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 Statement</a:t>
            </a:r>
            <a:endParaRPr dirty="0" sz="2200" lang="en-US"/>
          </a:p>
        </p:txBody>
      </p:sp>
      <p:sp>
        <p:nvSpPr>
          <p:cNvPr id="1048807" name="Shape 3"/>
          <p:cNvSpPr/>
          <p:nvPr/>
        </p:nvSpPr>
        <p:spPr>
          <a:xfrm>
            <a:off x="274320" y="1188720"/>
            <a:ext cx="2743200" cy="320040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08" name="Shape 4"/>
          <p:cNvSpPr/>
          <p:nvPr/>
        </p:nvSpPr>
        <p:spPr>
          <a:xfrm>
            <a:off x="274320" y="1188720"/>
            <a:ext cx="64008" cy="3200400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809" name="Text 5"/>
          <p:cNvSpPr/>
          <p:nvPr/>
        </p:nvSpPr>
        <p:spPr>
          <a:xfrm>
            <a:off x="457200" y="1261872"/>
            <a:ext cx="64008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📊</a:t>
            </a:r>
            <a:endParaRPr dirty="0" sz="2800" lang="en-US"/>
          </a:p>
        </p:txBody>
      </p:sp>
      <p:sp>
        <p:nvSpPr>
          <p:cNvPr id="1048810" name="Text 6"/>
          <p:cNvSpPr/>
          <p:nvPr/>
        </p:nvSpPr>
        <p:spPr>
          <a:xfrm>
            <a:off x="475488" y="1874520"/>
            <a:ext cx="2423160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Africa</a:t>
            </a:r>
            <a:endParaRPr dirty="0" sz="1300" lang="en-US"/>
          </a:p>
        </p:txBody>
      </p:sp>
      <p:sp>
        <p:nvSpPr>
          <p:cNvPr id="1048811" name="Text 7"/>
          <p:cNvSpPr/>
          <p:nvPr/>
        </p:nvSpPr>
        <p:spPr>
          <a:xfrm>
            <a:off x="475488" y="2331720"/>
            <a:ext cx="2423160" cy="1828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Statistics Day 2025 calls for innovative data methods to drive inclusive development, social justice, and prosperity.</a:t>
            </a:r>
            <a:endParaRPr dirty="0" sz="1100" lang="en-US"/>
          </a:p>
        </p:txBody>
      </p:sp>
      <p:sp>
        <p:nvSpPr>
          <p:cNvPr id="1048812" name="Shape 8"/>
          <p:cNvSpPr/>
          <p:nvPr/>
        </p:nvSpPr>
        <p:spPr>
          <a:xfrm>
            <a:off x="3246120" y="1188720"/>
            <a:ext cx="2743200" cy="320040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13" name="Shape 9"/>
          <p:cNvSpPr/>
          <p:nvPr/>
        </p:nvSpPr>
        <p:spPr>
          <a:xfrm>
            <a:off x="3246120" y="1188720"/>
            <a:ext cx="64008" cy="3200400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814" name="Text 10"/>
          <p:cNvSpPr/>
          <p:nvPr/>
        </p:nvSpPr>
        <p:spPr>
          <a:xfrm>
            <a:off x="3429000" y="1261872"/>
            <a:ext cx="64008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🏚️</a:t>
            </a:r>
            <a:endParaRPr dirty="0" sz="2800" lang="en-US"/>
          </a:p>
        </p:txBody>
      </p:sp>
      <p:sp>
        <p:nvSpPr>
          <p:cNvPr id="1048815" name="Text 11"/>
          <p:cNvSpPr/>
          <p:nvPr/>
        </p:nvSpPr>
        <p:spPr>
          <a:xfrm>
            <a:off x="3447288" y="1874520"/>
            <a:ext cx="2423160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Income Metrics</a:t>
            </a:r>
            <a:endParaRPr dirty="0" sz="1300" lang="en-US"/>
          </a:p>
        </p:txBody>
      </p:sp>
      <p:sp>
        <p:nvSpPr>
          <p:cNvPr id="1048816" name="Text 12"/>
          <p:cNvSpPr/>
          <p:nvPr/>
        </p:nvSpPr>
        <p:spPr>
          <a:xfrm>
            <a:off x="3447288" y="2331720"/>
            <a:ext cx="2423160" cy="1828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GDP &amp; income measures miss multidimensional poverty. Uganda needs richer household wellbeing indicators.</a:t>
            </a:r>
            <a:endParaRPr dirty="0" sz="1100" lang="en-US"/>
          </a:p>
        </p:txBody>
      </p:sp>
      <p:sp>
        <p:nvSpPr>
          <p:cNvPr id="1048817" name="Shape 13"/>
          <p:cNvSpPr/>
          <p:nvPr/>
        </p:nvSpPr>
        <p:spPr>
          <a:xfrm>
            <a:off x="6217920" y="1188720"/>
            <a:ext cx="2743200" cy="320040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18" name="Shape 14"/>
          <p:cNvSpPr/>
          <p:nvPr/>
        </p:nvSpPr>
        <p:spPr>
          <a:xfrm>
            <a:off x="6217920" y="1188720"/>
            <a:ext cx="64008" cy="3200400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819" name="Text 15"/>
          <p:cNvSpPr/>
          <p:nvPr/>
        </p:nvSpPr>
        <p:spPr>
          <a:xfrm>
            <a:off x="6400800" y="1261872"/>
            <a:ext cx="64008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🎯</a:t>
            </a:r>
            <a:endParaRPr dirty="0" sz="2800" lang="en-US"/>
          </a:p>
        </p:txBody>
      </p:sp>
      <p:sp>
        <p:nvSpPr>
          <p:cNvPr id="1048820" name="Text 16"/>
          <p:cNvSpPr/>
          <p:nvPr/>
        </p:nvSpPr>
        <p:spPr>
          <a:xfrm>
            <a:off x="6419088" y="1874520"/>
            <a:ext cx="2423160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Gap</a:t>
            </a:r>
            <a:endParaRPr dirty="0" sz="1300" lang="en-US"/>
          </a:p>
        </p:txBody>
      </p:sp>
      <p:sp>
        <p:nvSpPr>
          <p:cNvPr id="1048821" name="Text 17"/>
          <p:cNvSpPr/>
          <p:nvPr/>
        </p:nvSpPr>
        <p:spPr>
          <a:xfrm>
            <a:off x="6419088" y="2331720"/>
            <a:ext cx="2423160" cy="1828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Policymakers lack a composite, validated tool to identify vulnerable populations and target interventions effectively.</a:t>
            </a:r>
            <a:endParaRPr dirty="0" sz="1100" lang="en-US"/>
          </a:p>
        </p:txBody>
      </p:sp>
      <p:sp>
        <p:nvSpPr>
          <p:cNvPr id="1048822" name="Text 18"/>
          <p:cNvSpPr/>
          <p:nvPr/>
        </p:nvSpPr>
        <p:spPr>
          <a:xfrm>
            <a:off x="274320" y="4553712"/>
            <a:ext cx="859536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addresses the gap by constructing and validating an Inclusive Prosperity Index (IPI) for Uganda using the UNHS 2019/2020 dataset.</a:t>
            </a:r>
            <a:endParaRPr dirty="0" sz="12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5"/>
        </a:solidFill>
      </p:bgPr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6" name="Shape 0"/>
          <p:cNvSpPr/>
          <p:nvPr/>
        </p:nvSpPr>
        <p:spPr>
          <a:xfrm>
            <a:off x="0" y="0"/>
            <a:ext cx="9144000" cy="822960"/>
          </a:xfrm>
          <a:prstGeom prst="rect"/>
          <a:solidFill>
            <a:srgbClr val="004D2C"/>
          </a:solidFill>
          <a:ln w="12700">
            <a:solidFill>
              <a:srgbClr val="004D2C"/>
            </a:solidFill>
            <a:prstDash val="solid"/>
          </a:ln>
        </p:spPr>
      </p:sp>
      <p:sp>
        <p:nvSpPr>
          <p:cNvPr id="1048827" name="Shape 1"/>
          <p:cNvSpPr/>
          <p:nvPr/>
        </p:nvSpPr>
        <p:spPr>
          <a:xfrm>
            <a:off x="0" y="822960"/>
            <a:ext cx="9144000" cy="5029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828" name="Text 2"/>
          <p:cNvSpPr/>
          <p:nvPr/>
        </p:nvSpPr>
        <p:spPr>
          <a:xfrm>
            <a:off x="411480" y="0"/>
            <a:ext cx="832104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Aim &amp; Objectives</a:t>
            </a:r>
            <a:endParaRPr dirty="0" sz="2200" lang="en-US"/>
          </a:p>
        </p:txBody>
      </p:sp>
      <p:sp>
        <p:nvSpPr>
          <p:cNvPr id="1048829" name="Shape 3"/>
          <p:cNvSpPr/>
          <p:nvPr/>
        </p:nvSpPr>
        <p:spPr>
          <a:xfrm>
            <a:off x="274320" y="960120"/>
            <a:ext cx="8595360" cy="731520"/>
          </a:xfrm>
          <a:prstGeom prst="rect"/>
          <a:solidFill>
            <a:srgbClr val="004D2C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30" name="Text 4"/>
          <p:cNvSpPr/>
          <p:nvPr/>
        </p:nvSpPr>
        <p:spPr>
          <a:xfrm>
            <a:off x="457200" y="987552"/>
            <a:ext cx="13716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00" kern="0" lang="en-US" spc="20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AIM</a:t>
            </a:r>
            <a:endParaRPr dirty="0" sz="900" lang="en-US"/>
          </a:p>
        </p:txBody>
      </p:sp>
      <p:sp>
        <p:nvSpPr>
          <p:cNvPr id="1048831" name="Text 5"/>
          <p:cNvSpPr/>
          <p:nvPr/>
        </p:nvSpPr>
        <p:spPr>
          <a:xfrm>
            <a:off x="457200" y="1234440"/>
            <a:ext cx="822960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50" i="1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and validate an Inclusive Prosperity Index for Uganda and identify key socioeconomic determinants of household prosperity using statistical, econometric, and machine learning techniques.</a:t>
            </a:r>
            <a:endParaRPr dirty="0" sz="1150" lang="en-US"/>
          </a:p>
        </p:txBody>
      </p:sp>
      <p:sp>
        <p:nvSpPr>
          <p:cNvPr id="1048832" name="Shape 6"/>
          <p:cNvSpPr/>
          <p:nvPr/>
        </p:nvSpPr>
        <p:spPr>
          <a:xfrm>
            <a:off x="274320" y="1874520"/>
            <a:ext cx="384048" cy="384048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833" name="Text 7"/>
          <p:cNvSpPr/>
          <p:nvPr/>
        </p:nvSpPr>
        <p:spPr>
          <a:xfrm>
            <a:off x="274320" y="1874520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dirty="0" sz="1100" lang="en-US"/>
          </a:p>
        </p:txBody>
      </p:sp>
      <p:sp>
        <p:nvSpPr>
          <p:cNvPr id="1048834" name="Text 8"/>
          <p:cNvSpPr/>
          <p:nvPr/>
        </p:nvSpPr>
        <p:spPr>
          <a:xfrm>
            <a:off x="749808" y="1892808"/>
            <a:ext cx="38404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an IPI using household-level socioeconomic indicators from UNHS.</a:t>
            </a:r>
            <a:endParaRPr dirty="0" sz="1050" lang="en-US"/>
          </a:p>
        </p:txBody>
      </p:sp>
      <p:sp>
        <p:nvSpPr>
          <p:cNvPr id="1048835" name="Shape 9"/>
          <p:cNvSpPr/>
          <p:nvPr/>
        </p:nvSpPr>
        <p:spPr>
          <a:xfrm>
            <a:off x="274320" y="2542032"/>
            <a:ext cx="384048" cy="384048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836" name="Text 10"/>
          <p:cNvSpPr/>
          <p:nvPr/>
        </p:nvSpPr>
        <p:spPr>
          <a:xfrm>
            <a:off x="274320" y="2542032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dirty="0" sz="1100" lang="en-US"/>
          </a:p>
        </p:txBody>
      </p:sp>
      <p:sp>
        <p:nvSpPr>
          <p:cNvPr id="1048837" name="Text 11"/>
          <p:cNvSpPr/>
          <p:nvPr/>
        </p:nvSpPr>
        <p:spPr>
          <a:xfrm>
            <a:off x="749808" y="2560320"/>
            <a:ext cx="38404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regional &amp; demographic disparities in prosperity across Uganda.</a:t>
            </a:r>
            <a:endParaRPr dirty="0" sz="1050" lang="en-US"/>
          </a:p>
        </p:txBody>
      </p:sp>
      <p:sp>
        <p:nvSpPr>
          <p:cNvPr id="1048838" name="Shape 12"/>
          <p:cNvSpPr/>
          <p:nvPr/>
        </p:nvSpPr>
        <p:spPr>
          <a:xfrm>
            <a:off x="274320" y="3209544"/>
            <a:ext cx="384048" cy="384048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839" name="Text 13"/>
          <p:cNvSpPr/>
          <p:nvPr/>
        </p:nvSpPr>
        <p:spPr>
          <a:xfrm>
            <a:off x="274320" y="3209544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dirty="0" sz="1100" lang="en-US"/>
          </a:p>
        </p:txBody>
      </p:sp>
      <p:sp>
        <p:nvSpPr>
          <p:cNvPr id="1048840" name="Text 14"/>
          <p:cNvSpPr/>
          <p:nvPr/>
        </p:nvSpPr>
        <p:spPr>
          <a:xfrm>
            <a:off x="749808" y="3227832"/>
            <a:ext cx="38404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socioeconomic determinants of household prosperity.</a:t>
            </a:r>
            <a:endParaRPr dirty="0" sz="1050" lang="en-US"/>
          </a:p>
        </p:txBody>
      </p:sp>
      <p:sp>
        <p:nvSpPr>
          <p:cNvPr id="1048841" name="Shape 15"/>
          <p:cNvSpPr/>
          <p:nvPr/>
        </p:nvSpPr>
        <p:spPr>
          <a:xfrm>
            <a:off x="274320" y="3877056"/>
            <a:ext cx="384048" cy="384048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842" name="Text 16"/>
          <p:cNvSpPr/>
          <p:nvPr/>
        </p:nvSpPr>
        <p:spPr>
          <a:xfrm>
            <a:off x="274320" y="3877056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dirty="0" sz="1100" lang="en-US"/>
          </a:p>
        </p:txBody>
      </p:sp>
      <p:sp>
        <p:nvSpPr>
          <p:cNvPr id="1048843" name="Text 17"/>
          <p:cNvSpPr/>
          <p:nvPr/>
        </p:nvSpPr>
        <p:spPr>
          <a:xfrm>
            <a:off x="749808" y="3895344"/>
            <a:ext cx="38404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machine learning techniques in predicting household prosperity levels.</a:t>
            </a:r>
            <a:endParaRPr dirty="0" sz="1050" lang="en-US"/>
          </a:p>
        </p:txBody>
      </p:sp>
      <p:sp>
        <p:nvSpPr>
          <p:cNvPr id="1048844" name="Shape 18"/>
          <p:cNvSpPr/>
          <p:nvPr/>
        </p:nvSpPr>
        <p:spPr>
          <a:xfrm>
            <a:off x="4663440" y="1874520"/>
            <a:ext cx="384048" cy="384048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845" name="Text 19"/>
          <p:cNvSpPr/>
          <p:nvPr/>
        </p:nvSpPr>
        <p:spPr>
          <a:xfrm>
            <a:off x="4663440" y="1874520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dirty="0" sz="1100" lang="en-US"/>
          </a:p>
        </p:txBody>
      </p:sp>
      <p:sp>
        <p:nvSpPr>
          <p:cNvPr id="1048846" name="Text 20"/>
          <p:cNvSpPr/>
          <p:nvPr/>
        </p:nvSpPr>
        <p:spPr>
          <a:xfrm>
            <a:off x="5138928" y="1892808"/>
            <a:ext cx="37490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robustness and stability of the IPI and associated models.</a:t>
            </a:r>
            <a:endParaRPr dirty="0" sz="1050" lang="en-US"/>
          </a:p>
        </p:txBody>
      </p:sp>
      <p:sp>
        <p:nvSpPr>
          <p:cNvPr id="1048847" name="Shape 21"/>
          <p:cNvSpPr/>
          <p:nvPr/>
        </p:nvSpPr>
        <p:spPr>
          <a:xfrm>
            <a:off x="4663440" y="2542032"/>
            <a:ext cx="384048" cy="384048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848" name="Text 22"/>
          <p:cNvSpPr/>
          <p:nvPr/>
        </p:nvSpPr>
        <p:spPr>
          <a:xfrm>
            <a:off x="4663440" y="2542032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dirty="0" sz="1100" lang="en-US"/>
          </a:p>
        </p:txBody>
      </p:sp>
      <p:sp>
        <p:nvSpPr>
          <p:cNvPr id="1048849" name="Text 23"/>
          <p:cNvSpPr/>
          <p:nvPr/>
        </p:nvSpPr>
        <p:spPr>
          <a:xfrm>
            <a:off x="5138928" y="2560320"/>
            <a:ext cx="37490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interactive visualizations &amp; dashboards for evidence-based policy.</a:t>
            </a:r>
            <a:endParaRPr dirty="0" sz="1050" lang="en-US"/>
          </a:p>
        </p:txBody>
      </p:sp>
      <p:sp>
        <p:nvSpPr>
          <p:cNvPr id="1048850" name="Shape 24"/>
          <p:cNvSpPr/>
          <p:nvPr/>
        </p:nvSpPr>
        <p:spPr>
          <a:xfrm>
            <a:off x="4663440" y="3209544"/>
            <a:ext cx="384048" cy="384048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851" name="Text 25"/>
          <p:cNvSpPr/>
          <p:nvPr/>
        </p:nvSpPr>
        <p:spPr>
          <a:xfrm>
            <a:off x="4663440" y="3209544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dirty="0" sz="1100" lang="en-US"/>
          </a:p>
        </p:txBody>
      </p:sp>
      <p:sp>
        <p:nvSpPr>
          <p:cNvPr id="1048852" name="Text 26"/>
          <p:cNvSpPr/>
          <p:nvPr/>
        </p:nvSpPr>
        <p:spPr>
          <a:xfrm>
            <a:off x="5138928" y="3227832"/>
            <a:ext cx="37490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how statistical innovation can drive inclusive prosperity.</a:t>
            </a:r>
            <a:endParaRPr dirty="0" sz="105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5"/>
        </a:solidFill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6" name="Shape 0"/>
          <p:cNvSpPr/>
          <p:nvPr/>
        </p:nvSpPr>
        <p:spPr>
          <a:xfrm>
            <a:off x="0" y="0"/>
            <a:ext cx="9144000" cy="822960"/>
          </a:xfrm>
          <a:prstGeom prst="rect"/>
          <a:solidFill>
            <a:srgbClr val="004D2C"/>
          </a:solidFill>
          <a:ln w="12700">
            <a:solidFill>
              <a:srgbClr val="004D2C"/>
            </a:solidFill>
            <a:prstDash val="solid"/>
          </a:ln>
        </p:spPr>
      </p:sp>
      <p:sp>
        <p:nvSpPr>
          <p:cNvPr id="1048857" name="Shape 1"/>
          <p:cNvSpPr/>
          <p:nvPr/>
        </p:nvSpPr>
        <p:spPr>
          <a:xfrm>
            <a:off x="0" y="822960"/>
            <a:ext cx="9144000" cy="5029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858" name="Text 2"/>
          <p:cNvSpPr/>
          <p:nvPr/>
        </p:nvSpPr>
        <p:spPr>
          <a:xfrm>
            <a:off x="411480" y="0"/>
            <a:ext cx="832104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— UNHS 2019/2020</a:t>
            </a:r>
            <a:endParaRPr dirty="0" sz="2200" lang="en-US"/>
          </a:p>
        </p:txBody>
      </p:sp>
      <p:sp>
        <p:nvSpPr>
          <p:cNvPr id="1048859" name="Shape 3"/>
          <p:cNvSpPr/>
          <p:nvPr/>
        </p:nvSpPr>
        <p:spPr>
          <a:xfrm>
            <a:off x="274320" y="960120"/>
            <a:ext cx="4114800" cy="384048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60" name="Shape 4"/>
          <p:cNvSpPr/>
          <p:nvPr/>
        </p:nvSpPr>
        <p:spPr>
          <a:xfrm>
            <a:off x="274320" y="960120"/>
            <a:ext cx="64008" cy="3840480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861" name="Text 5"/>
          <p:cNvSpPr/>
          <p:nvPr/>
        </p:nvSpPr>
        <p:spPr>
          <a:xfrm>
            <a:off x="475488" y="1024128"/>
            <a:ext cx="3703320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 National Household Survey</a:t>
            </a:r>
            <a:endParaRPr dirty="0" sz="1400" lang="en-US"/>
          </a:p>
        </p:txBody>
      </p:sp>
      <p:sp>
        <p:nvSpPr>
          <p:cNvPr id="1048862" name="Text 6"/>
          <p:cNvSpPr/>
          <p:nvPr/>
        </p:nvSpPr>
        <p:spPr>
          <a:xfrm>
            <a:off x="475488" y="1417320"/>
            <a:ext cx="37033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/ 2020</a:t>
            </a:r>
            <a:endParaRPr dirty="0" sz="2200" lang="en-US"/>
          </a:p>
        </p:txBody>
      </p:sp>
      <p:sp>
        <p:nvSpPr>
          <p:cNvPr id="1048863" name="Text 7"/>
          <p:cNvSpPr/>
          <p:nvPr/>
        </p:nvSpPr>
        <p:spPr>
          <a:xfrm>
            <a:off x="475488" y="1874520"/>
            <a:ext cx="10058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dirty="0" sz="1000" lang="en-US"/>
          </a:p>
        </p:txBody>
      </p:sp>
      <p:sp>
        <p:nvSpPr>
          <p:cNvPr id="1048864" name="Text 8"/>
          <p:cNvSpPr/>
          <p:nvPr/>
        </p:nvSpPr>
        <p:spPr>
          <a:xfrm>
            <a:off x="1508760" y="1874520"/>
            <a:ext cx="26517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 Bureau of Statistics (UBOS)</a:t>
            </a:r>
            <a:endParaRPr dirty="0" sz="1000" lang="en-US"/>
          </a:p>
        </p:txBody>
      </p:sp>
      <p:sp>
        <p:nvSpPr>
          <p:cNvPr id="1048865" name="Text 9"/>
          <p:cNvSpPr/>
          <p:nvPr/>
        </p:nvSpPr>
        <p:spPr>
          <a:xfrm>
            <a:off x="475488" y="2404872"/>
            <a:ext cx="10058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</a:t>
            </a:r>
            <a:endParaRPr dirty="0" sz="1000" lang="en-US"/>
          </a:p>
        </p:txBody>
      </p:sp>
      <p:sp>
        <p:nvSpPr>
          <p:cNvPr id="1048866" name="Text 10"/>
          <p:cNvSpPr/>
          <p:nvPr/>
        </p:nvSpPr>
        <p:spPr>
          <a:xfrm>
            <a:off x="1508760" y="2404872"/>
            <a:ext cx="26517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dirty="0" sz="1000" lang="en-US"/>
          </a:p>
        </p:txBody>
      </p:sp>
      <p:sp>
        <p:nvSpPr>
          <p:cNvPr id="1048867" name="Text 11"/>
          <p:cNvSpPr/>
          <p:nvPr/>
        </p:nvSpPr>
        <p:spPr>
          <a:xfrm>
            <a:off x="475488" y="2935224"/>
            <a:ext cx="10058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</a:t>
            </a:r>
            <a:endParaRPr dirty="0" sz="1000" lang="en-US"/>
          </a:p>
        </p:txBody>
      </p:sp>
      <p:sp>
        <p:nvSpPr>
          <p:cNvPr id="1048868" name="Text 12"/>
          <p:cNvSpPr/>
          <p:nvPr/>
        </p:nvSpPr>
        <p:spPr>
          <a:xfrm>
            <a:off x="1508760" y="2935224"/>
            <a:ext cx="26517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— all regions of Uganda</a:t>
            </a:r>
            <a:endParaRPr dirty="0" sz="1000" lang="en-US"/>
          </a:p>
        </p:txBody>
      </p:sp>
      <p:sp>
        <p:nvSpPr>
          <p:cNvPr id="1048869" name="Text 13"/>
          <p:cNvSpPr/>
          <p:nvPr/>
        </p:nvSpPr>
        <p:spPr>
          <a:xfrm>
            <a:off x="475488" y="3465576"/>
            <a:ext cx="10058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</a:t>
            </a:r>
            <a:endParaRPr dirty="0" sz="1000" lang="en-US"/>
          </a:p>
        </p:txBody>
      </p:sp>
      <p:sp>
        <p:nvSpPr>
          <p:cNvPr id="1048870" name="Text 14"/>
          <p:cNvSpPr/>
          <p:nvPr/>
        </p:nvSpPr>
        <p:spPr>
          <a:xfrm>
            <a:off x="1508760" y="3465576"/>
            <a:ext cx="26517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Consumption, income, education, housing, health, digital access</a:t>
            </a:r>
            <a:endParaRPr dirty="0" sz="1000" lang="en-US"/>
          </a:p>
        </p:txBody>
      </p:sp>
      <p:sp>
        <p:nvSpPr>
          <p:cNvPr id="1048871" name="Text 15"/>
          <p:cNvSpPr/>
          <p:nvPr/>
        </p:nvSpPr>
        <p:spPr>
          <a:xfrm>
            <a:off x="475488" y="3995928"/>
            <a:ext cx="10058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</a:t>
            </a:r>
            <a:endParaRPr dirty="0" sz="1000" lang="en-US"/>
          </a:p>
        </p:txBody>
      </p:sp>
      <p:sp>
        <p:nvSpPr>
          <p:cNvPr id="1048872" name="Text 16"/>
          <p:cNvSpPr/>
          <p:nvPr/>
        </p:nvSpPr>
        <p:spPr>
          <a:xfrm>
            <a:off x="1508760" y="3995928"/>
            <a:ext cx="26517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probability weights applied throughout analysis</a:t>
            </a:r>
            <a:endParaRPr dirty="0" sz="1000" lang="en-US"/>
          </a:p>
        </p:txBody>
      </p:sp>
      <p:sp>
        <p:nvSpPr>
          <p:cNvPr id="1048873" name="Shape 17"/>
          <p:cNvSpPr/>
          <p:nvPr/>
        </p:nvSpPr>
        <p:spPr>
          <a:xfrm>
            <a:off x="4663440" y="960120"/>
            <a:ext cx="4206240" cy="384048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74" name="Shape 18"/>
          <p:cNvSpPr/>
          <p:nvPr/>
        </p:nvSpPr>
        <p:spPr>
          <a:xfrm>
            <a:off x="4663440" y="960120"/>
            <a:ext cx="64008" cy="3840480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875" name="Text 19"/>
          <p:cNvSpPr/>
          <p:nvPr/>
        </p:nvSpPr>
        <p:spPr>
          <a:xfrm>
            <a:off x="4864608" y="1024128"/>
            <a:ext cx="37490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Modules Used</a:t>
            </a:r>
            <a:endParaRPr dirty="0" sz="1300" lang="en-US"/>
          </a:p>
        </p:txBody>
      </p:sp>
      <p:sp>
        <p:nvSpPr>
          <p:cNvPr id="1048876" name="Text 20"/>
          <p:cNvSpPr/>
          <p:nvPr/>
        </p:nvSpPr>
        <p:spPr>
          <a:xfrm>
            <a:off x="4864608" y="1508760"/>
            <a:ext cx="374904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Household Roster &amp; Demographics</a:t>
            </a:r>
            <a:endParaRPr dirty="0" sz="1100" lang="en-US"/>
          </a:p>
        </p:txBody>
      </p:sp>
      <p:sp>
        <p:nvSpPr>
          <p:cNvPr id="1048877" name="Text 21"/>
          <p:cNvSpPr/>
          <p:nvPr/>
        </p:nvSpPr>
        <p:spPr>
          <a:xfrm>
            <a:off x="4864608" y="1956816"/>
            <a:ext cx="374904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Consumption &amp; Expenditure</a:t>
            </a:r>
            <a:endParaRPr dirty="0" sz="1100" lang="en-US"/>
          </a:p>
        </p:txBody>
      </p:sp>
      <p:sp>
        <p:nvSpPr>
          <p:cNvPr id="1048878" name="Text 22"/>
          <p:cNvSpPr/>
          <p:nvPr/>
        </p:nvSpPr>
        <p:spPr>
          <a:xfrm>
            <a:off x="4864608" y="2404872"/>
            <a:ext cx="374904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Education &amp; Literacy</a:t>
            </a:r>
            <a:endParaRPr dirty="0" sz="1100" lang="en-US"/>
          </a:p>
        </p:txBody>
      </p:sp>
      <p:sp>
        <p:nvSpPr>
          <p:cNvPr id="1048879" name="Text 23"/>
          <p:cNvSpPr/>
          <p:nvPr/>
        </p:nvSpPr>
        <p:spPr>
          <a:xfrm>
            <a:off x="4864608" y="2852928"/>
            <a:ext cx="374904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Health &amp; Disability Status</a:t>
            </a:r>
            <a:endParaRPr dirty="0" sz="1100" lang="en-US"/>
          </a:p>
        </p:txBody>
      </p:sp>
      <p:sp>
        <p:nvSpPr>
          <p:cNvPr id="1048880" name="Text 24"/>
          <p:cNvSpPr/>
          <p:nvPr/>
        </p:nvSpPr>
        <p:spPr>
          <a:xfrm>
            <a:off x="4864608" y="3300984"/>
            <a:ext cx="374904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Housing &amp; Living Standards</a:t>
            </a:r>
            <a:endParaRPr dirty="0" sz="1100" lang="en-US"/>
          </a:p>
        </p:txBody>
      </p:sp>
      <p:sp>
        <p:nvSpPr>
          <p:cNvPr id="1048881" name="Text 25"/>
          <p:cNvSpPr/>
          <p:nvPr/>
        </p:nvSpPr>
        <p:spPr>
          <a:xfrm>
            <a:off x="4864608" y="3749040"/>
            <a:ext cx="374904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ICT &amp; Digital Access</a:t>
            </a:r>
            <a:endParaRPr dirty="0" sz="1100" lang="en-US"/>
          </a:p>
        </p:txBody>
      </p:sp>
      <p:sp>
        <p:nvSpPr>
          <p:cNvPr id="1048882" name="Text 26"/>
          <p:cNvSpPr/>
          <p:nvPr/>
        </p:nvSpPr>
        <p:spPr>
          <a:xfrm>
            <a:off x="4864608" y="4197096"/>
            <a:ext cx="374904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Employment &amp; Livelihoods</a:t>
            </a:r>
            <a:endParaRPr dirty="0" sz="11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5"/>
        </a:solidFill>
      </p:bgPr>
    </p:bg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6" name="Shape 0"/>
          <p:cNvSpPr/>
          <p:nvPr/>
        </p:nvSpPr>
        <p:spPr>
          <a:xfrm>
            <a:off x="0" y="0"/>
            <a:ext cx="9144000" cy="822960"/>
          </a:xfrm>
          <a:prstGeom prst="rect"/>
          <a:solidFill>
            <a:srgbClr val="004D2C"/>
          </a:solidFill>
          <a:ln w="12700">
            <a:solidFill>
              <a:srgbClr val="004D2C"/>
            </a:solidFill>
            <a:prstDash val="solid"/>
          </a:ln>
        </p:spPr>
      </p:sp>
      <p:sp>
        <p:nvSpPr>
          <p:cNvPr id="1048887" name="Shape 1"/>
          <p:cNvSpPr/>
          <p:nvPr/>
        </p:nvSpPr>
        <p:spPr>
          <a:xfrm>
            <a:off x="0" y="822960"/>
            <a:ext cx="9144000" cy="5029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888" name="Text 2"/>
          <p:cNvSpPr/>
          <p:nvPr/>
        </p:nvSpPr>
        <p:spPr>
          <a:xfrm>
            <a:off x="411480" y="0"/>
            <a:ext cx="832104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of the Inclusive Prosperity Index (IPI)</a:t>
            </a:r>
            <a:endParaRPr dirty="0" sz="2200" lang="en-US"/>
          </a:p>
        </p:txBody>
      </p:sp>
      <p:sp>
        <p:nvSpPr>
          <p:cNvPr id="1048889" name="Shape 3"/>
          <p:cNvSpPr/>
          <p:nvPr/>
        </p:nvSpPr>
        <p:spPr>
          <a:xfrm>
            <a:off x="228600" y="960120"/>
            <a:ext cx="1627632" cy="388620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90" name="Shape 4"/>
          <p:cNvSpPr/>
          <p:nvPr/>
        </p:nvSpPr>
        <p:spPr>
          <a:xfrm>
            <a:off x="228600" y="960120"/>
            <a:ext cx="1627632" cy="594360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891" name="Text 5"/>
          <p:cNvSpPr/>
          <p:nvPr/>
        </p:nvSpPr>
        <p:spPr>
          <a:xfrm>
            <a:off x="228600" y="960120"/>
            <a:ext cx="1627632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</a:rPr>
              <a:t>💰</a:t>
            </a:r>
            <a:endParaRPr dirty="0" sz="2200" lang="en-US"/>
          </a:p>
        </p:txBody>
      </p:sp>
      <p:sp>
        <p:nvSpPr>
          <p:cNvPr id="1048892" name="Text 6"/>
          <p:cNvSpPr/>
          <p:nvPr/>
        </p:nvSpPr>
        <p:spPr>
          <a:xfrm>
            <a:off x="320040" y="1600200"/>
            <a:ext cx="1444752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dirty="0" sz="1100" lang="en-US"/>
          </a:p>
          <a:p>
            <a:pPr algn="ctr" indent="0" marL="0">
              <a:buNone/>
            </a:pPr>
            <a:r>
              <a:rPr b="1" dirty="0" sz="110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</a:t>
            </a:r>
            <a:endParaRPr dirty="0" sz="1100" lang="en-US"/>
          </a:p>
        </p:txBody>
      </p:sp>
      <p:sp>
        <p:nvSpPr>
          <p:cNvPr id="1048893" name="Text 7"/>
          <p:cNvSpPr/>
          <p:nvPr/>
        </p:nvSpPr>
        <p:spPr>
          <a:xfrm>
            <a:off x="320040" y="2267712"/>
            <a:ext cx="1444752" cy="22860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expenditure · Employment · Income-generating activities</a:t>
            </a:r>
            <a:endParaRPr dirty="0" sz="950" lang="en-US"/>
          </a:p>
        </p:txBody>
      </p:sp>
      <p:sp>
        <p:nvSpPr>
          <p:cNvPr id="1048894" name="Shape 8"/>
          <p:cNvSpPr/>
          <p:nvPr/>
        </p:nvSpPr>
        <p:spPr>
          <a:xfrm>
            <a:off x="1965960" y="960120"/>
            <a:ext cx="1627632" cy="388620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95" name="Shape 9"/>
          <p:cNvSpPr/>
          <p:nvPr/>
        </p:nvSpPr>
        <p:spPr>
          <a:xfrm>
            <a:off x="1965960" y="960120"/>
            <a:ext cx="1627632" cy="594360"/>
          </a:xfrm>
          <a:prstGeom prst="rect"/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48896" name="Text 10"/>
          <p:cNvSpPr/>
          <p:nvPr/>
        </p:nvSpPr>
        <p:spPr>
          <a:xfrm>
            <a:off x="1965960" y="960120"/>
            <a:ext cx="1627632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</a:rPr>
              <a:t>🎓</a:t>
            </a:r>
            <a:endParaRPr dirty="0" sz="2200" lang="en-US"/>
          </a:p>
        </p:txBody>
      </p:sp>
      <p:sp>
        <p:nvSpPr>
          <p:cNvPr id="1048897" name="Text 11"/>
          <p:cNvSpPr/>
          <p:nvPr/>
        </p:nvSpPr>
        <p:spPr>
          <a:xfrm>
            <a:off x="2057400" y="1600200"/>
            <a:ext cx="1444752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dirty="0" sz="1100" lang="en-US"/>
          </a:p>
        </p:txBody>
      </p:sp>
      <p:sp>
        <p:nvSpPr>
          <p:cNvPr id="1048898" name="Text 12"/>
          <p:cNvSpPr/>
          <p:nvPr/>
        </p:nvSpPr>
        <p:spPr>
          <a:xfrm>
            <a:off x="2057400" y="2267712"/>
            <a:ext cx="1444752" cy="22860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attainment · School attendance</a:t>
            </a:r>
            <a:endParaRPr dirty="0" sz="950" lang="en-US"/>
          </a:p>
        </p:txBody>
      </p:sp>
      <p:sp>
        <p:nvSpPr>
          <p:cNvPr id="1048899" name="Shape 13"/>
          <p:cNvSpPr/>
          <p:nvPr/>
        </p:nvSpPr>
        <p:spPr>
          <a:xfrm>
            <a:off x="3703320" y="960120"/>
            <a:ext cx="1627632" cy="388620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00" name="Shape 14"/>
          <p:cNvSpPr/>
          <p:nvPr/>
        </p:nvSpPr>
        <p:spPr>
          <a:xfrm>
            <a:off x="3703320" y="960120"/>
            <a:ext cx="1627632" cy="594360"/>
          </a:xfrm>
          <a:prstGeom prst="rect"/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48901" name="Text 15"/>
          <p:cNvSpPr/>
          <p:nvPr/>
        </p:nvSpPr>
        <p:spPr>
          <a:xfrm>
            <a:off x="3703320" y="960120"/>
            <a:ext cx="1627632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</a:rPr>
              <a:t>🏠</a:t>
            </a:r>
            <a:endParaRPr dirty="0" sz="2200" lang="en-US"/>
          </a:p>
        </p:txBody>
      </p:sp>
      <p:sp>
        <p:nvSpPr>
          <p:cNvPr id="1048902" name="Text 16"/>
          <p:cNvSpPr/>
          <p:nvPr/>
        </p:nvSpPr>
        <p:spPr>
          <a:xfrm>
            <a:off x="3794760" y="1600200"/>
            <a:ext cx="1444752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&amp;</a:t>
            </a:r>
            <a:endParaRPr dirty="0" sz="1100" lang="en-US"/>
          </a:p>
          <a:p>
            <a:pPr algn="ctr" indent="0" marL="0">
              <a:buNone/>
            </a:pPr>
            <a:r>
              <a:rPr b="1" dirty="0" sz="1100" lang="en-US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Standards</a:t>
            </a:r>
            <a:endParaRPr dirty="0" sz="1100" lang="en-US"/>
          </a:p>
        </p:txBody>
      </p:sp>
      <p:sp>
        <p:nvSpPr>
          <p:cNvPr id="1048903" name="Text 17"/>
          <p:cNvSpPr/>
          <p:nvPr/>
        </p:nvSpPr>
        <p:spPr>
          <a:xfrm>
            <a:off x="3794760" y="2267712"/>
            <a:ext cx="1444752" cy="22860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· Housing quality · Safe water · Sanitation</a:t>
            </a:r>
            <a:endParaRPr dirty="0" sz="950" lang="en-US"/>
          </a:p>
        </p:txBody>
      </p:sp>
      <p:sp>
        <p:nvSpPr>
          <p:cNvPr id="1048904" name="Shape 18"/>
          <p:cNvSpPr/>
          <p:nvPr/>
        </p:nvSpPr>
        <p:spPr>
          <a:xfrm>
            <a:off x="5440680" y="960120"/>
            <a:ext cx="1627632" cy="388620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05" name="Shape 19"/>
          <p:cNvSpPr/>
          <p:nvPr/>
        </p:nvSpPr>
        <p:spPr>
          <a:xfrm>
            <a:off x="5440680" y="960120"/>
            <a:ext cx="1627632" cy="594360"/>
          </a:xfrm>
          <a:prstGeom prst="rect"/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48906" name="Text 20"/>
          <p:cNvSpPr/>
          <p:nvPr/>
        </p:nvSpPr>
        <p:spPr>
          <a:xfrm>
            <a:off x="5440680" y="960120"/>
            <a:ext cx="1627632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</a:rPr>
              <a:t>📱</a:t>
            </a:r>
            <a:endParaRPr dirty="0" sz="2200" lang="en-US"/>
          </a:p>
        </p:txBody>
      </p:sp>
      <p:sp>
        <p:nvSpPr>
          <p:cNvPr id="1048907" name="Text 21"/>
          <p:cNvSpPr/>
          <p:nvPr/>
        </p:nvSpPr>
        <p:spPr>
          <a:xfrm>
            <a:off x="5532120" y="1600200"/>
            <a:ext cx="1444752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dirty="0" sz="1100" lang="en-US"/>
          </a:p>
          <a:p>
            <a:pPr algn="ctr" indent="0" marL="0">
              <a:buNone/>
            </a:pPr>
            <a:r>
              <a:rPr b="1" dirty="0" sz="1100" lang="en-US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</a:t>
            </a:r>
            <a:endParaRPr dirty="0" sz="1100" lang="en-US"/>
          </a:p>
        </p:txBody>
      </p:sp>
      <p:sp>
        <p:nvSpPr>
          <p:cNvPr id="1048908" name="Text 22"/>
          <p:cNvSpPr/>
          <p:nvPr/>
        </p:nvSpPr>
        <p:spPr>
          <a:xfrm>
            <a:off x="5532120" y="2267712"/>
            <a:ext cx="1444752" cy="22860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access · Mobile phones · Computer ownership</a:t>
            </a:r>
            <a:endParaRPr dirty="0" sz="950" lang="en-US"/>
          </a:p>
        </p:txBody>
      </p:sp>
      <p:sp>
        <p:nvSpPr>
          <p:cNvPr id="1048909" name="Shape 23"/>
          <p:cNvSpPr/>
          <p:nvPr/>
        </p:nvSpPr>
        <p:spPr>
          <a:xfrm>
            <a:off x="7178040" y="960120"/>
            <a:ext cx="1627632" cy="388620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10" name="Shape 24"/>
          <p:cNvSpPr/>
          <p:nvPr/>
        </p:nvSpPr>
        <p:spPr>
          <a:xfrm>
            <a:off x="7178040" y="960120"/>
            <a:ext cx="1627632" cy="594360"/>
          </a:xfrm>
          <a:prstGeom prst="rect"/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48911" name="Text 25"/>
          <p:cNvSpPr/>
          <p:nvPr/>
        </p:nvSpPr>
        <p:spPr>
          <a:xfrm>
            <a:off x="7178040" y="960120"/>
            <a:ext cx="1627632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</a:rPr>
              <a:t>❤️</a:t>
            </a:r>
            <a:endParaRPr dirty="0" sz="2200" lang="en-US"/>
          </a:p>
        </p:txBody>
      </p:sp>
      <p:sp>
        <p:nvSpPr>
          <p:cNvPr id="1048912" name="Text 26"/>
          <p:cNvSpPr/>
          <p:nvPr/>
        </p:nvSpPr>
        <p:spPr>
          <a:xfrm>
            <a:off x="7269480" y="1600200"/>
            <a:ext cx="1444752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</a:t>
            </a:r>
            <a:endParaRPr dirty="0" sz="1100" lang="en-US"/>
          </a:p>
          <a:p>
            <a:pPr algn="ctr" indent="0" marL="0">
              <a:buNone/>
            </a:pPr>
            <a:r>
              <a:rPr b="1" dirty="0" sz="1100" lang="en-US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Inclusion</a:t>
            </a:r>
            <a:endParaRPr dirty="0" sz="1100" lang="en-US"/>
          </a:p>
        </p:txBody>
      </p:sp>
      <p:sp>
        <p:nvSpPr>
          <p:cNvPr id="1048913" name="Text 27"/>
          <p:cNvSpPr/>
          <p:nvPr/>
        </p:nvSpPr>
        <p:spPr>
          <a:xfrm>
            <a:off x="7269480" y="2267712"/>
            <a:ext cx="1444752" cy="22860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access · Disability status · Gender of head</a:t>
            </a:r>
            <a:endParaRPr dirty="0" sz="950" lang="en-US"/>
          </a:p>
        </p:txBody>
      </p:sp>
      <p:sp>
        <p:nvSpPr>
          <p:cNvPr id="1048914" name="Text 28"/>
          <p:cNvSpPr/>
          <p:nvPr/>
        </p:nvSpPr>
        <p:spPr>
          <a:xfrm>
            <a:off x="274320" y="4828032"/>
            <a:ext cx="859536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50" i="1" lang="en-US">
                <a:solidFill>
                  <a:srgbClr val="4A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dimension is standardized and weighted via Principal Component Analysis (PCA) to construct the composite IPI score.</a:t>
            </a:r>
            <a:endParaRPr dirty="0" sz="105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5"/>
        </a:solidFill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8" name="Shape 0"/>
          <p:cNvSpPr/>
          <p:nvPr/>
        </p:nvSpPr>
        <p:spPr>
          <a:xfrm>
            <a:off x="0" y="0"/>
            <a:ext cx="9144000" cy="822960"/>
          </a:xfrm>
          <a:prstGeom prst="rect"/>
          <a:solidFill>
            <a:srgbClr val="004D2C"/>
          </a:solidFill>
          <a:ln w="12700">
            <a:solidFill>
              <a:srgbClr val="004D2C"/>
            </a:solidFill>
            <a:prstDash val="solid"/>
          </a:ln>
        </p:spPr>
      </p:sp>
      <p:sp>
        <p:nvSpPr>
          <p:cNvPr id="1048919" name="Shape 1"/>
          <p:cNvSpPr/>
          <p:nvPr/>
        </p:nvSpPr>
        <p:spPr>
          <a:xfrm>
            <a:off x="0" y="822960"/>
            <a:ext cx="9144000" cy="5029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920" name="Text 2"/>
          <p:cNvSpPr/>
          <p:nvPr/>
        </p:nvSpPr>
        <p:spPr>
          <a:xfrm>
            <a:off x="411480" y="0"/>
            <a:ext cx="832104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 — 8-Phase Framework</a:t>
            </a:r>
            <a:endParaRPr dirty="0" sz="2200" lang="en-US"/>
          </a:p>
        </p:txBody>
      </p:sp>
      <p:sp>
        <p:nvSpPr>
          <p:cNvPr id="1048921" name="Shape 3"/>
          <p:cNvSpPr/>
          <p:nvPr/>
        </p:nvSpPr>
        <p:spPr>
          <a:xfrm>
            <a:off x="164592" y="1005840"/>
            <a:ext cx="2011680" cy="169164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22" name="Shape 4"/>
          <p:cNvSpPr/>
          <p:nvPr/>
        </p:nvSpPr>
        <p:spPr>
          <a:xfrm>
            <a:off x="164592" y="1005840"/>
            <a:ext cx="2011680" cy="384048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923" name="Text 5"/>
          <p:cNvSpPr/>
          <p:nvPr/>
        </p:nvSpPr>
        <p:spPr>
          <a:xfrm>
            <a:off x="164592" y="1005840"/>
            <a:ext cx="201168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dirty="0" sz="1000" lang="en-US"/>
          </a:p>
        </p:txBody>
      </p:sp>
      <p:sp>
        <p:nvSpPr>
          <p:cNvPr id="1048924" name="Text 6"/>
          <p:cNvSpPr/>
          <p:nvPr/>
        </p:nvSpPr>
        <p:spPr>
          <a:xfrm>
            <a:off x="256032" y="1444752"/>
            <a:ext cx="1828800" cy="6858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</a:t>
            </a:r>
            <a:endParaRPr dirty="0" sz="1050" lang="en-US"/>
          </a:p>
          <a:p>
            <a:pPr algn="ctr" indent="0" marL="0">
              <a:buNone/>
            </a:pPr>
            <a:r>
              <a:rPr b="1"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Preparation</a:t>
            </a:r>
            <a:endParaRPr dirty="0" sz="1050" lang="en-US"/>
          </a:p>
        </p:txBody>
      </p:sp>
      <p:sp>
        <p:nvSpPr>
          <p:cNvPr id="1048925" name="Text 7"/>
          <p:cNvSpPr/>
          <p:nvPr/>
        </p:nvSpPr>
        <p:spPr>
          <a:xfrm>
            <a:off x="256032" y="2258568"/>
            <a:ext cx="182880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Stata</a:t>
            </a:r>
            <a:endParaRPr dirty="0" sz="900" lang="en-US"/>
          </a:p>
        </p:txBody>
      </p:sp>
      <p:sp>
        <p:nvSpPr>
          <p:cNvPr id="1048926" name="Text 8"/>
          <p:cNvSpPr/>
          <p:nvPr/>
        </p:nvSpPr>
        <p:spPr>
          <a:xfrm>
            <a:off x="2194560" y="1645920"/>
            <a:ext cx="146304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400" lang="en-US">
                <a:solidFill>
                  <a:srgbClr val="7A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dirty="0" sz="1400" lang="en-US"/>
          </a:p>
        </p:txBody>
      </p:sp>
      <p:sp>
        <p:nvSpPr>
          <p:cNvPr id="1048927" name="Shape 9"/>
          <p:cNvSpPr/>
          <p:nvPr/>
        </p:nvSpPr>
        <p:spPr>
          <a:xfrm>
            <a:off x="2359152" y="1005840"/>
            <a:ext cx="2011680" cy="169164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28" name="Shape 10"/>
          <p:cNvSpPr/>
          <p:nvPr/>
        </p:nvSpPr>
        <p:spPr>
          <a:xfrm>
            <a:off x="2359152" y="1005840"/>
            <a:ext cx="2011680" cy="384048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929" name="Text 11"/>
          <p:cNvSpPr/>
          <p:nvPr/>
        </p:nvSpPr>
        <p:spPr>
          <a:xfrm>
            <a:off x="2359152" y="1005840"/>
            <a:ext cx="201168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dirty="0" sz="1000" lang="en-US"/>
          </a:p>
        </p:txBody>
      </p:sp>
      <p:sp>
        <p:nvSpPr>
          <p:cNvPr id="1048930" name="Text 12"/>
          <p:cNvSpPr/>
          <p:nvPr/>
        </p:nvSpPr>
        <p:spPr>
          <a:xfrm>
            <a:off x="2450592" y="1444752"/>
            <a:ext cx="1828800" cy="6858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</a:t>
            </a:r>
            <a:endParaRPr dirty="0" sz="1050" lang="en-US"/>
          </a:p>
          <a:p>
            <a:pPr algn="ctr" indent="0" marL="0">
              <a:buNone/>
            </a:pPr>
            <a:r>
              <a:rPr b="1"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dirty="0" sz="1050" lang="en-US"/>
          </a:p>
        </p:txBody>
      </p:sp>
      <p:sp>
        <p:nvSpPr>
          <p:cNvPr id="1048931" name="Text 13"/>
          <p:cNvSpPr/>
          <p:nvPr/>
        </p:nvSpPr>
        <p:spPr>
          <a:xfrm>
            <a:off x="2450592" y="2258568"/>
            <a:ext cx="182880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Stata</a:t>
            </a:r>
            <a:endParaRPr dirty="0" sz="900" lang="en-US"/>
          </a:p>
        </p:txBody>
      </p:sp>
      <p:sp>
        <p:nvSpPr>
          <p:cNvPr id="1048932" name="Text 14"/>
          <p:cNvSpPr/>
          <p:nvPr/>
        </p:nvSpPr>
        <p:spPr>
          <a:xfrm>
            <a:off x="4389120" y="1645920"/>
            <a:ext cx="146304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400" lang="en-US">
                <a:solidFill>
                  <a:srgbClr val="7A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dirty="0" sz="1400" lang="en-US"/>
          </a:p>
        </p:txBody>
      </p:sp>
      <p:sp>
        <p:nvSpPr>
          <p:cNvPr id="1048933" name="Shape 15"/>
          <p:cNvSpPr/>
          <p:nvPr/>
        </p:nvSpPr>
        <p:spPr>
          <a:xfrm>
            <a:off x="4553712" y="1005840"/>
            <a:ext cx="2011680" cy="169164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34" name="Shape 16"/>
          <p:cNvSpPr/>
          <p:nvPr/>
        </p:nvSpPr>
        <p:spPr>
          <a:xfrm>
            <a:off x="4553712" y="1005840"/>
            <a:ext cx="2011680" cy="384048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935" name="Text 17"/>
          <p:cNvSpPr/>
          <p:nvPr/>
        </p:nvSpPr>
        <p:spPr>
          <a:xfrm>
            <a:off x="4553712" y="1005840"/>
            <a:ext cx="201168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dirty="0" sz="1000" lang="en-US"/>
          </a:p>
        </p:txBody>
      </p:sp>
      <p:sp>
        <p:nvSpPr>
          <p:cNvPr id="1048936" name="Text 18"/>
          <p:cNvSpPr/>
          <p:nvPr/>
        </p:nvSpPr>
        <p:spPr>
          <a:xfrm>
            <a:off x="4645152" y="1444752"/>
            <a:ext cx="1828800" cy="6858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dirty="0" sz="1050" lang="en-US"/>
          </a:p>
          <a:p>
            <a:pPr algn="ctr" indent="0" marL="0">
              <a:buNone/>
            </a:pPr>
            <a:r>
              <a:rPr b="1"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dirty="0" sz="1050" lang="en-US"/>
          </a:p>
        </p:txBody>
      </p:sp>
      <p:sp>
        <p:nvSpPr>
          <p:cNvPr id="1048937" name="Text 19"/>
          <p:cNvSpPr/>
          <p:nvPr/>
        </p:nvSpPr>
        <p:spPr>
          <a:xfrm>
            <a:off x="4645152" y="2258568"/>
            <a:ext cx="182880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Stata</a:t>
            </a:r>
            <a:endParaRPr dirty="0" sz="900" lang="en-US"/>
          </a:p>
        </p:txBody>
      </p:sp>
      <p:sp>
        <p:nvSpPr>
          <p:cNvPr id="1048938" name="Text 20"/>
          <p:cNvSpPr/>
          <p:nvPr/>
        </p:nvSpPr>
        <p:spPr>
          <a:xfrm>
            <a:off x="6583680" y="1645920"/>
            <a:ext cx="146304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400" lang="en-US">
                <a:solidFill>
                  <a:srgbClr val="7A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dirty="0" sz="1400" lang="en-US"/>
          </a:p>
        </p:txBody>
      </p:sp>
      <p:sp>
        <p:nvSpPr>
          <p:cNvPr id="1048939" name="Shape 21"/>
          <p:cNvSpPr/>
          <p:nvPr/>
        </p:nvSpPr>
        <p:spPr>
          <a:xfrm>
            <a:off x="6748272" y="1005840"/>
            <a:ext cx="2011680" cy="169164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40" name="Shape 22"/>
          <p:cNvSpPr/>
          <p:nvPr/>
        </p:nvSpPr>
        <p:spPr>
          <a:xfrm>
            <a:off x="6748272" y="1005840"/>
            <a:ext cx="2011680" cy="384048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941" name="Text 23"/>
          <p:cNvSpPr/>
          <p:nvPr/>
        </p:nvSpPr>
        <p:spPr>
          <a:xfrm>
            <a:off x="6748272" y="1005840"/>
            <a:ext cx="201168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dirty="0" sz="1000" lang="en-US"/>
          </a:p>
        </p:txBody>
      </p:sp>
      <p:sp>
        <p:nvSpPr>
          <p:cNvPr id="1048942" name="Text 24"/>
          <p:cNvSpPr/>
          <p:nvPr/>
        </p:nvSpPr>
        <p:spPr>
          <a:xfrm>
            <a:off x="6839712" y="1444752"/>
            <a:ext cx="1828800" cy="6858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Econometric</a:t>
            </a:r>
            <a:endParaRPr dirty="0" sz="1050" lang="en-US"/>
          </a:p>
          <a:p>
            <a:pPr algn="ctr" indent="0" marL="0">
              <a:buNone/>
            </a:pPr>
            <a:r>
              <a:rPr b="1"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dirty="0" sz="1050" lang="en-US"/>
          </a:p>
        </p:txBody>
      </p:sp>
      <p:sp>
        <p:nvSpPr>
          <p:cNvPr id="1048943" name="Text 25"/>
          <p:cNvSpPr/>
          <p:nvPr/>
        </p:nvSpPr>
        <p:spPr>
          <a:xfrm>
            <a:off x="6839712" y="2258568"/>
            <a:ext cx="182880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Stata</a:t>
            </a:r>
            <a:endParaRPr dirty="0" sz="900" lang="en-US"/>
          </a:p>
        </p:txBody>
      </p:sp>
      <p:sp>
        <p:nvSpPr>
          <p:cNvPr id="1048944" name="Shape 26"/>
          <p:cNvSpPr/>
          <p:nvPr/>
        </p:nvSpPr>
        <p:spPr>
          <a:xfrm>
            <a:off x="164592" y="3017520"/>
            <a:ext cx="2011680" cy="169164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45" name="Shape 27"/>
          <p:cNvSpPr/>
          <p:nvPr/>
        </p:nvSpPr>
        <p:spPr>
          <a:xfrm>
            <a:off x="164592" y="3017520"/>
            <a:ext cx="2011680" cy="384048"/>
          </a:xfrm>
          <a:prstGeom prst="rect"/>
          <a:solidFill>
            <a:srgbClr val="004D2C"/>
          </a:solidFill>
          <a:ln w="12700">
            <a:solidFill>
              <a:srgbClr val="004D2C"/>
            </a:solidFill>
            <a:prstDash val="solid"/>
          </a:ln>
        </p:spPr>
      </p:sp>
      <p:sp>
        <p:nvSpPr>
          <p:cNvPr id="1048946" name="Text 28"/>
          <p:cNvSpPr/>
          <p:nvPr/>
        </p:nvSpPr>
        <p:spPr>
          <a:xfrm>
            <a:off x="164592" y="3017520"/>
            <a:ext cx="201168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dirty="0" sz="1000" lang="en-US"/>
          </a:p>
        </p:txBody>
      </p:sp>
      <p:sp>
        <p:nvSpPr>
          <p:cNvPr id="1048947" name="Text 29"/>
          <p:cNvSpPr/>
          <p:nvPr/>
        </p:nvSpPr>
        <p:spPr>
          <a:xfrm>
            <a:off x="256032" y="3456432"/>
            <a:ext cx="1828800" cy="6858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dirty="0" sz="1050" lang="en-US"/>
          </a:p>
          <a:p>
            <a:pPr algn="ctr" indent="0" marL="0">
              <a:buNone/>
            </a:pPr>
            <a:r>
              <a:rPr b="1"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dirty="0" sz="1050" lang="en-US"/>
          </a:p>
        </p:txBody>
      </p:sp>
      <p:sp>
        <p:nvSpPr>
          <p:cNvPr id="1048948" name="Text 30"/>
          <p:cNvSpPr/>
          <p:nvPr/>
        </p:nvSpPr>
        <p:spPr>
          <a:xfrm>
            <a:off x="256032" y="4270248"/>
            <a:ext cx="182880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dirty="0" sz="900" lang="en-US"/>
          </a:p>
        </p:txBody>
      </p:sp>
      <p:sp>
        <p:nvSpPr>
          <p:cNvPr id="1048949" name="Text 31"/>
          <p:cNvSpPr/>
          <p:nvPr/>
        </p:nvSpPr>
        <p:spPr>
          <a:xfrm>
            <a:off x="2194560" y="3657600"/>
            <a:ext cx="146304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400" lang="en-US">
                <a:solidFill>
                  <a:srgbClr val="7A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dirty="0" sz="1400" lang="en-US"/>
          </a:p>
        </p:txBody>
      </p:sp>
      <p:sp>
        <p:nvSpPr>
          <p:cNvPr id="1048950" name="Shape 32"/>
          <p:cNvSpPr/>
          <p:nvPr/>
        </p:nvSpPr>
        <p:spPr>
          <a:xfrm>
            <a:off x="2359152" y="3017520"/>
            <a:ext cx="2011680" cy="169164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51" name="Shape 33"/>
          <p:cNvSpPr/>
          <p:nvPr/>
        </p:nvSpPr>
        <p:spPr>
          <a:xfrm>
            <a:off x="2359152" y="3017520"/>
            <a:ext cx="2011680" cy="384048"/>
          </a:xfrm>
          <a:prstGeom prst="rect"/>
          <a:solidFill>
            <a:srgbClr val="004D2C"/>
          </a:solidFill>
          <a:ln w="12700">
            <a:solidFill>
              <a:srgbClr val="004D2C"/>
            </a:solidFill>
            <a:prstDash val="solid"/>
          </a:ln>
        </p:spPr>
      </p:sp>
      <p:sp>
        <p:nvSpPr>
          <p:cNvPr id="1048952" name="Text 34"/>
          <p:cNvSpPr/>
          <p:nvPr/>
        </p:nvSpPr>
        <p:spPr>
          <a:xfrm>
            <a:off x="2359152" y="3017520"/>
            <a:ext cx="201168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dirty="0" sz="1000" lang="en-US"/>
          </a:p>
        </p:txBody>
      </p:sp>
      <p:sp>
        <p:nvSpPr>
          <p:cNvPr id="1048953" name="Text 35"/>
          <p:cNvSpPr/>
          <p:nvPr/>
        </p:nvSpPr>
        <p:spPr>
          <a:xfrm>
            <a:off x="2450592" y="3456432"/>
            <a:ext cx="1828800" cy="6858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dirty="0" sz="1050" lang="en-US"/>
          </a:p>
          <a:p>
            <a:pPr algn="ctr" indent="0" marL="0">
              <a:buNone/>
            </a:pPr>
            <a:r>
              <a:rPr b="1"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dirty="0" sz="1050" lang="en-US"/>
          </a:p>
        </p:txBody>
      </p:sp>
      <p:sp>
        <p:nvSpPr>
          <p:cNvPr id="1048954" name="Text 36"/>
          <p:cNvSpPr/>
          <p:nvPr/>
        </p:nvSpPr>
        <p:spPr>
          <a:xfrm>
            <a:off x="2450592" y="4270248"/>
            <a:ext cx="182880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Stata + Python</a:t>
            </a:r>
            <a:endParaRPr dirty="0" sz="900" lang="en-US"/>
          </a:p>
        </p:txBody>
      </p:sp>
      <p:sp>
        <p:nvSpPr>
          <p:cNvPr id="1048955" name="Text 37"/>
          <p:cNvSpPr/>
          <p:nvPr/>
        </p:nvSpPr>
        <p:spPr>
          <a:xfrm>
            <a:off x="4389120" y="3657600"/>
            <a:ext cx="146304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400" lang="en-US">
                <a:solidFill>
                  <a:srgbClr val="7A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dirty="0" sz="1400" lang="en-US"/>
          </a:p>
        </p:txBody>
      </p:sp>
      <p:sp>
        <p:nvSpPr>
          <p:cNvPr id="1048956" name="Shape 38"/>
          <p:cNvSpPr/>
          <p:nvPr/>
        </p:nvSpPr>
        <p:spPr>
          <a:xfrm>
            <a:off x="4553712" y="3017520"/>
            <a:ext cx="2011680" cy="169164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57" name="Shape 39"/>
          <p:cNvSpPr/>
          <p:nvPr/>
        </p:nvSpPr>
        <p:spPr>
          <a:xfrm>
            <a:off x="4553712" y="3017520"/>
            <a:ext cx="2011680" cy="384048"/>
          </a:xfrm>
          <a:prstGeom prst="rect"/>
          <a:solidFill>
            <a:srgbClr val="004D2C"/>
          </a:solidFill>
          <a:ln w="12700">
            <a:solidFill>
              <a:srgbClr val="004D2C"/>
            </a:solidFill>
            <a:prstDash val="solid"/>
          </a:ln>
        </p:spPr>
      </p:sp>
      <p:sp>
        <p:nvSpPr>
          <p:cNvPr id="1048958" name="Text 40"/>
          <p:cNvSpPr/>
          <p:nvPr/>
        </p:nvSpPr>
        <p:spPr>
          <a:xfrm>
            <a:off x="4553712" y="3017520"/>
            <a:ext cx="201168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dirty="0" sz="1000" lang="en-US"/>
          </a:p>
        </p:txBody>
      </p:sp>
      <p:sp>
        <p:nvSpPr>
          <p:cNvPr id="1048959" name="Text 41"/>
          <p:cNvSpPr/>
          <p:nvPr/>
        </p:nvSpPr>
        <p:spPr>
          <a:xfrm>
            <a:off x="4645152" y="3456432"/>
            <a:ext cx="1828800" cy="6858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dirty="0" sz="1050" lang="en-US"/>
          </a:p>
          <a:p>
            <a:pPr algn="ctr" indent="0" marL="0">
              <a:buNone/>
            </a:pPr>
            <a:r>
              <a:rPr b="1"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dirty="0" sz="1050" lang="en-US"/>
          </a:p>
        </p:txBody>
      </p:sp>
      <p:sp>
        <p:nvSpPr>
          <p:cNvPr id="1048960" name="Text 42"/>
          <p:cNvSpPr/>
          <p:nvPr/>
        </p:nvSpPr>
        <p:spPr>
          <a:xfrm>
            <a:off x="4645152" y="4270248"/>
            <a:ext cx="182880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dirty="0" sz="900" lang="en-US"/>
          </a:p>
        </p:txBody>
      </p:sp>
      <p:sp>
        <p:nvSpPr>
          <p:cNvPr id="1048961" name="Text 43"/>
          <p:cNvSpPr/>
          <p:nvPr/>
        </p:nvSpPr>
        <p:spPr>
          <a:xfrm>
            <a:off x="6583680" y="3657600"/>
            <a:ext cx="146304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400" lang="en-US">
                <a:solidFill>
                  <a:srgbClr val="7A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dirty="0" sz="1400" lang="en-US"/>
          </a:p>
        </p:txBody>
      </p:sp>
      <p:sp>
        <p:nvSpPr>
          <p:cNvPr id="1048962" name="Shape 44"/>
          <p:cNvSpPr/>
          <p:nvPr/>
        </p:nvSpPr>
        <p:spPr>
          <a:xfrm>
            <a:off x="6748272" y="3017520"/>
            <a:ext cx="2011680" cy="169164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63" name="Shape 45"/>
          <p:cNvSpPr/>
          <p:nvPr/>
        </p:nvSpPr>
        <p:spPr>
          <a:xfrm>
            <a:off x="6748272" y="3017520"/>
            <a:ext cx="2011680" cy="384048"/>
          </a:xfrm>
          <a:prstGeom prst="rect"/>
          <a:solidFill>
            <a:srgbClr val="004D2C"/>
          </a:solidFill>
          <a:ln w="12700">
            <a:solidFill>
              <a:srgbClr val="004D2C"/>
            </a:solidFill>
            <a:prstDash val="solid"/>
          </a:ln>
        </p:spPr>
      </p:sp>
      <p:sp>
        <p:nvSpPr>
          <p:cNvPr id="1048964" name="Text 46"/>
          <p:cNvSpPr/>
          <p:nvPr/>
        </p:nvSpPr>
        <p:spPr>
          <a:xfrm>
            <a:off x="6748272" y="3017520"/>
            <a:ext cx="201168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dirty="0" sz="1000" lang="en-US"/>
          </a:p>
        </p:txBody>
      </p:sp>
      <p:sp>
        <p:nvSpPr>
          <p:cNvPr id="1048965" name="Text 47"/>
          <p:cNvSpPr/>
          <p:nvPr/>
        </p:nvSpPr>
        <p:spPr>
          <a:xfrm>
            <a:off x="6839712" y="3456432"/>
            <a:ext cx="1828800" cy="6858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</a:t>
            </a:r>
            <a:endParaRPr dirty="0" sz="1050" lang="en-US"/>
          </a:p>
          <a:p>
            <a:pPr algn="ctr" indent="0" marL="0">
              <a:buNone/>
            </a:pPr>
            <a:r>
              <a:rPr b="1"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dirty="0" sz="1050" lang="en-US"/>
          </a:p>
        </p:txBody>
      </p:sp>
      <p:sp>
        <p:nvSpPr>
          <p:cNvPr id="1048966" name="Text 48"/>
          <p:cNvSpPr/>
          <p:nvPr/>
        </p:nvSpPr>
        <p:spPr>
          <a:xfrm>
            <a:off x="6839712" y="4270248"/>
            <a:ext cx="182880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/ PPT</a:t>
            </a:r>
            <a:endParaRPr dirty="0" sz="9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5"/>
        </a:solidFill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0" name="Shape 0"/>
          <p:cNvSpPr/>
          <p:nvPr/>
        </p:nvSpPr>
        <p:spPr>
          <a:xfrm>
            <a:off x="0" y="0"/>
            <a:ext cx="9144000" cy="822960"/>
          </a:xfrm>
          <a:prstGeom prst="rect"/>
          <a:solidFill>
            <a:srgbClr val="004D2C"/>
          </a:solidFill>
          <a:ln w="12700">
            <a:solidFill>
              <a:srgbClr val="004D2C"/>
            </a:solidFill>
            <a:prstDash val="solid"/>
          </a:ln>
        </p:spPr>
      </p:sp>
      <p:sp>
        <p:nvSpPr>
          <p:cNvPr id="1048971" name="Shape 1"/>
          <p:cNvSpPr/>
          <p:nvPr/>
        </p:nvSpPr>
        <p:spPr>
          <a:xfrm>
            <a:off x="0" y="822960"/>
            <a:ext cx="9144000" cy="5029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972" name="Text 2"/>
          <p:cNvSpPr/>
          <p:nvPr/>
        </p:nvSpPr>
        <p:spPr>
          <a:xfrm>
            <a:off x="411480" y="0"/>
            <a:ext cx="832104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IPI Construction via Principal Component Analysis</a:t>
            </a:r>
            <a:endParaRPr dirty="0" sz="2200" lang="en-US"/>
          </a:p>
        </p:txBody>
      </p:sp>
      <p:sp>
        <p:nvSpPr>
          <p:cNvPr id="1048973" name="Shape 3"/>
          <p:cNvSpPr/>
          <p:nvPr/>
        </p:nvSpPr>
        <p:spPr>
          <a:xfrm>
            <a:off x="274320" y="987552"/>
            <a:ext cx="4114800" cy="1170432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74" name="Shape 4"/>
          <p:cNvSpPr/>
          <p:nvPr/>
        </p:nvSpPr>
        <p:spPr>
          <a:xfrm>
            <a:off x="274320" y="987552"/>
            <a:ext cx="64008" cy="117043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975" name="Shape 5"/>
          <p:cNvSpPr/>
          <p:nvPr/>
        </p:nvSpPr>
        <p:spPr>
          <a:xfrm>
            <a:off x="438912" y="1097280"/>
            <a:ext cx="347472" cy="34747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976" name="Text 6"/>
          <p:cNvSpPr/>
          <p:nvPr/>
        </p:nvSpPr>
        <p:spPr>
          <a:xfrm>
            <a:off x="438912" y="1097280"/>
            <a:ext cx="3474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dirty="0" sz="1000" lang="en-US"/>
          </a:p>
        </p:txBody>
      </p:sp>
      <p:sp>
        <p:nvSpPr>
          <p:cNvPr id="1048977" name="Text 7"/>
          <p:cNvSpPr/>
          <p:nvPr/>
        </p:nvSpPr>
        <p:spPr>
          <a:xfrm>
            <a:off x="868680" y="1078992"/>
            <a:ext cx="333756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Selection</a:t>
            </a:r>
            <a:endParaRPr dirty="0" sz="1200" lang="en-US"/>
          </a:p>
        </p:txBody>
      </p:sp>
      <p:sp>
        <p:nvSpPr>
          <p:cNvPr id="1048978" name="Text 8"/>
          <p:cNvSpPr/>
          <p:nvPr/>
        </p:nvSpPr>
        <p:spPr>
          <a:xfrm>
            <a:off x="868680" y="1399032"/>
            <a:ext cx="333756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household-level variables across 5 IPI dimensions from merged UNHS modules.</a:t>
            </a:r>
            <a:endParaRPr dirty="0" sz="1050" lang="en-US"/>
          </a:p>
        </p:txBody>
      </p:sp>
      <p:sp>
        <p:nvSpPr>
          <p:cNvPr id="1048979" name="Shape 9"/>
          <p:cNvSpPr/>
          <p:nvPr/>
        </p:nvSpPr>
        <p:spPr>
          <a:xfrm>
            <a:off x="4663440" y="987552"/>
            <a:ext cx="4114800" cy="1170432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80" name="Shape 10"/>
          <p:cNvSpPr/>
          <p:nvPr/>
        </p:nvSpPr>
        <p:spPr>
          <a:xfrm>
            <a:off x="4663440" y="987552"/>
            <a:ext cx="64008" cy="117043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981" name="Shape 11"/>
          <p:cNvSpPr/>
          <p:nvPr/>
        </p:nvSpPr>
        <p:spPr>
          <a:xfrm>
            <a:off x="4828032" y="1097280"/>
            <a:ext cx="347472" cy="34747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982" name="Text 12"/>
          <p:cNvSpPr/>
          <p:nvPr/>
        </p:nvSpPr>
        <p:spPr>
          <a:xfrm>
            <a:off x="4828032" y="1097280"/>
            <a:ext cx="3474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dirty="0" sz="1000" lang="en-US"/>
          </a:p>
        </p:txBody>
      </p:sp>
      <p:sp>
        <p:nvSpPr>
          <p:cNvPr id="1048983" name="Text 13"/>
          <p:cNvSpPr/>
          <p:nvPr/>
        </p:nvSpPr>
        <p:spPr>
          <a:xfrm>
            <a:off x="5257800" y="1078992"/>
            <a:ext cx="333756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</a:t>
            </a:r>
            <a:endParaRPr dirty="0" sz="1200" lang="en-US"/>
          </a:p>
        </p:txBody>
      </p:sp>
      <p:sp>
        <p:nvSpPr>
          <p:cNvPr id="1048984" name="Text 14"/>
          <p:cNvSpPr/>
          <p:nvPr/>
        </p:nvSpPr>
        <p:spPr>
          <a:xfrm>
            <a:off x="5257800" y="1399032"/>
            <a:ext cx="333756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all indicators to z-scores: zero mean, unit variance — ensuring comparability across dimensions.</a:t>
            </a:r>
            <a:endParaRPr dirty="0" sz="1050" lang="en-US"/>
          </a:p>
        </p:txBody>
      </p:sp>
      <p:sp>
        <p:nvSpPr>
          <p:cNvPr id="1048985" name="Shape 15"/>
          <p:cNvSpPr/>
          <p:nvPr/>
        </p:nvSpPr>
        <p:spPr>
          <a:xfrm>
            <a:off x="274320" y="2286000"/>
            <a:ext cx="4114800" cy="1170432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86" name="Shape 16"/>
          <p:cNvSpPr/>
          <p:nvPr/>
        </p:nvSpPr>
        <p:spPr>
          <a:xfrm>
            <a:off x="274320" y="2286000"/>
            <a:ext cx="64008" cy="117043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987" name="Shape 17"/>
          <p:cNvSpPr/>
          <p:nvPr/>
        </p:nvSpPr>
        <p:spPr>
          <a:xfrm>
            <a:off x="438912" y="2395728"/>
            <a:ext cx="347472" cy="34747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988" name="Text 18"/>
          <p:cNvSpPr/>
          <p:nvPr/>
        </p:nvSpPr>
        <p:spPr>
          <a:xfrm>
            <a:off x="438912" y="2395728"/>
            <a:ext cx="3474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dirty="0" sz="1000" lang="en-US"/>
          </a:p>
        </p:txBody>
      </p:sp>
      <p:sp>
        <p:nvSpPr>
          <p:cNvPr id="1048989" name="Text 19"/>
          <p:cNvSpPr/>
          <p:nvPr/>
        </p:nvSpPr>
        <p:spPr>
          <a:xfrm>
            <a:off x="868680" y="2377440"/>
            <a:ext cx="333756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Execution</a:t>
            </a:r>
            <a:endParaRPr dirty="0" sz="1200" lang="en-US"/>
          </a:p>
        </p:txBody>
      </p:sp>
      <p:sp>
        <p:nvSpPr>
          <p:cNvPr id="1048990" name="Text 20"/>
          <p:cNvSpPr/>
          <p:nvPr/>
        </p:nvSpPr>
        <p:spPr>
          <a:xfrm>
            <a:off x="868680" y="2697480"/>
            <a:ext cx="333756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PCA in Stata. Extract eigenvalues &amp; eigenvectors. Retain components explaining ≥ 70% of variance.</a:t>
            </a:r>
            <a:endParaRPr dirty="0" sz="1050" lang="en-US"/>
          </a:p>
        </p:txBody>
      </p:sp>
      <p:sp>
        <p:nvSpPr>
          <p:cNvPr id="1048991" name="Shape 21"/>
          <p:cNvSpPr/>
          <p:nvPr/>
        </p:nvSpPr>
        <p:spPr>
          <a:xfrm>
            <a:off x="4663440" y="2286000"/>
            <a:ext cx="4114800" cy="1170432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92" name="Shape 22"/>
          <p:cNvSpPr/>
          <p:nvPr/>
        </p:nvSpPr>
        <p:spPr>
          <a:xfrm>
            <a:off x="4663440" y="2286000"/>
            <a:ext cx="64008" cy="117043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993" name="Shape 23"/>
          <p:cNvSpPr/>
          <p:nvPr/>
        </p:nvSpPr>
        <p:spPr>
          <a:xfrm>
            <a:off x="4828032" y="2395728"/>
            <a:ext cx="347472" cy="34747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994" name="Text 24"/>
          <p:cNvSpPr/>
          <p:nvPr/>
        </p:nvSpPr>
        <p:spPr>
          <a:xfrm>
            <a:off x="4828032" y="2395728"/>
            <a:ext cx="3474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dirty="0" sz="1000" lang="en-US"/>
          </a:p>
        </p:txBody>
      </p:sp>
      <p:sp>
        <p:nvSpPr>
          <p:cNvPr id="1048995" name="Text 25"/>
          <p:cNvSpPr/>
          <p:nvPr/>
        </p:nvSpPr>
        <p:spPr>
          <a:xfrm>
            <a:off x="5257800" y="2377440"/>
            <a:ext cx="333756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Generation</a:t>
            </a:r>
            <a:endParaRPr dirty="0" sz="1200" lang="en-US"/>
          </a:p>
        </p:txBody>
      </p:sp>
      <p:sp>
        <p:nvSpPr>
          <p:cNvPr id="1048996" name="Text 26"/>
          <p:cNvSpPr/>
          <p:nvPr/>
        </p:nvSpPr>
        <p:spPr>
          <a:xfrm>
            <a:off x="5257800" y="2697480"/>
            <a:ext cx="333756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objective, data-driven weights from component loadings — eliminating subjective bias.</a:t>
            </a:r>
            <a:endParaRPr dirty="0" sz="1050" lang="en-US"/>
          </a:p>
        </p:txBody>
      </p:sp>
      <p:sp>
        <p:nvSpPr>
          <p:cNvPr id="1048997" name="Shape 27"/>
          <p:cNvSpPr/>
          <p:nvPr/>
        </p:nvSpPr>
        <p:spPr>
          <a:xfrm>
            <a:off x="274320" y="3584448"/>
            <a:ext cx="4114800" cy="1170432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98" name="Shape 28"/>
          <p:cNvSpPr/>
          <p:nvPr/>
        </p:nvSpPr>
        <p:spPr>
          <a:xfrm>
            <a:off x="274320" y="3584448"/>
            <a:ext cx="64008" cy="117043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999" name="Shape 29"/>
          <p:cNvSpPr/>
          <p:nvPr/>
        </p:nvSpPr>
        <p:spPr>
          <a:xfrm>
            <a:off x="438912" y="3694176"/>
            <a:ext cx="347472" cy="34747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00" name="Text 30"/>
          <p:cNvSpPr/>
          <p:nvPr/>
        </p:nvSpPr>
        <p:spPr>
          <a:xfrm>
            <a:off x="438912" y="3694176"/>
            <a:ext cx="3474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dirty="0" sz="1000" lang="en-US"/>
          </a:p>
        </p:txBody>
      </p:sp>
      <p:sp>
        <p:nvSpPr>
          <p:cNvPr id="1049001" name="Text 31"/>
          <p:cNvSpPr/>
          <p:nvPr/>
        </p:nvSpPr>
        <p:spPr>
          <a:xfrm>
            <a:off x="868680" y="3675888"/>
            <a:ext cx="333756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 Score</a:t>
            </a:r>
            <a:endParaRPr dirty="0" sz="1200" lang="en-US"/>
          </a:p>
        </p:txBody>
      </p:sp>
      <p:sp>
        <p:nvSpPr>
          <p:cNvPr id="1049002" name="Text 32"/>
          <p:cNvSpPr/>
          <p:nvPr/>
        </p:nvSpPr>
        <p:spPr>
          <a:xfrm>
            <a:off x="868680" y="3995928"/>
            <a:ext cx="333756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 = Σ (wᵢ × standardised indicatorᵢ). Scores rescaled to 0–100 for interpretability.</a:t>
            </a:r>
            <a:endParaRPr dirty="0" sz="1050" lang="en-US"/>
          </a:p>
        </p:txBody>
      </p:sp>
      <p:sp>
        <p:nvSpPr>
          <p:cNvPr id="1049003" name="Shape 33"/>
          <p:cNvSpPr/>
          <p:nvPr/>
        </p:nvSpPr>
        <p:spPr>
          <a:xfrm>
            <a:off x="4663440" y="3584448"/>
            <a:ext cx="4114800" cy="1170432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004" name="Shape 34"/>
          <p:cNvSpPr/>
          <p:nvPr/>
        </p:nvSpPr>
        <p:spPr>
          <a:xfrm>
            <a:off x="4663440" y="3584448"/>
            <a:ext cx="64008" cy="117043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05" name="Shape 35"/>
          <p:cNvSpPr/>
          <p:nvPr/>
        </p:nvSpPr>
        <p:spPr>
          <a:xfrm>
            <a:off x="4828032" y="3694176"/>
            <a:ext cx="347472" cy="34747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06" name="Text 36"/>
          <p:cNvSpPr/>
          <p:nvPr/>
        </p:nvSpPr>
        <p:spPr>
          <a:xfrm>
            <a:off x="4828032" y="3694176"/>
            <a:ext cx="3474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dirty="0" sz="1000" lang="en-US"/>
          </a:p>
        </p:txBody>
      </p:sp>
      <p:sp>
        <p:nvSpPr>
          <p:cNvPr id="1049007" name="Text 37"/>
          <p:cNvSpPr/>
          <p:nvPr/>
        </p:nvSpPr>
        <p:spPr>
          <a:xfrm>
            <a:off x="5257800" y="3675888"/>
            <a:ext cx="333756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dirty="0" sz="1200" lang="en-US"/>
          </a:p>
        </p:txBody>
      </p:sp>
      <p:sp>
        <p:nvSpPr>
          <p:cNvPr id="1049008" name="Text 38"/>
          <p:cNvSpPr/>
          <p:nvPr/>
        </p:nvSpPr>
        <p:spPr>
          <a:xfrm>
            <a:off x="5257800" y="3995928"/>
            <a:ext cx="333756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classified: Low (0–33), Moderate (34–66), and High Prosperity (67–100).</a:t>
            </a:r>
            <a:endParaRPr dirty="0" sz="105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5"/>
        </a:solidFill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2" name="Shape 0"/>
          <p:cNvSpPr/>
          <p:nvPr/>
        </p:nvSpPr>
        <p:spPr>
          <a:xfrm>
            <a:off x="0" y="0"/>
            <a:ext cx="9144000" cy="822960"/>
          </a:xfrm>
          <a:prstGeom prst="rect"/>
          <a:solidFill>
            <a:srgbClr val="004D2C"/>
          </a:solidFill>
          <a:ln w="12700">
            <a:solidFill>
              <a:srgbClr val="004D2C"/>
            </a:solidFill>
            <a:prstDash val="solid"/>
          </a:ln>
        </p:spPr>
      </p:sp>
      <p:sp>
        <p:nvSpPr>
          <p:cNvPr id="1049013" name="Shape 1"/>
          <p:cNvSpPr/>
          <p:nvPr/>
        </p:nvSpPr>
        <p:spPr>
          <a:xfrm>
            <a:off x="0" y="822960"/>
            <a:ext cx="9144000" cy="5029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14" name="Text 2"/>
          <p:cNvSpPr/>
          <p:nvPr/>
        </p:nvSpPr>
        <p:spPr>
          <a:xfrm>
            <a:off x="411480" y="0"/>
            <a:ext cx="832104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&amp; 4: Statistical &amp; Econometric Analysis</a:t>
            </a:r>
            <a:endParaRPr dirty="0" sz="2200" lang="en-US"/>
          </a:p>
        </p:txBody>
      </p:sp>
      <p:sp>
        <p:nvSpPr>
          <p:cNvPr id="1049015" name="Shape 3"/>
          <p:cNvSpPr/>
          <p:nvPr/>
        </p:nvSpPr>
        <p:spPr>
          <a:xfrm>
            <a:off x="274320" y="960120"/>
            <a:ext cx="4114800" cy="379476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016" name="Shape 4"/>
          <p:cNvSpPr/>
          <p:nvPr/>
        </p:nvSpPr>
        <p:spPr>
          <a:xfrm>
            <a:off x="274320" y="960120"/>
            <a:ext cx="64008" cy="3794760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17" name="Text 5"/>
          <p:cNvSpPr/>
          <p:nvPr/>
        </p:nvSpPr>
        <p:spPr>
          <a:xfrm>
            <a:off x="475488" y="1005840"/>
            <a:ext cx="36576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dirty="0" sz="1300" lang="en-US"/>
          </a:p>
        </p:txBody>
      </p:sp>
      <p:sp>
        <p:nvSpPr>
          <p:cNvPr id="1049018" name="Text 6"/>
          <p:cNvSpPr/>
          <p:nvPr/>
        </p:nvSpPr>
        <p:spPr>
          <a:xfrm>
            <a:off x="475488" y="1481328"/>
            <a:ext cx="370332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Frequencies &amp; Percentages</a:t>
            </a:r>
            <a:endParaRPr dirty="0" sz="1100" lang="en-US"/>
          </a:p>
        </p:txBody>
      </p:sp>
      <p:sp>
        <p:nvSpPr>
          <p:cNvPr id="1049019" name="Text 7"/>
          <p:cNvSpPr/>
          <p:nvPr/>
        </p:nvSpPr>
        <p:spPr>
          <a:xfrm>
            <a:off x="475488" y="1956816"/>
            <a:ext cx="370332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Means &amp; Standard Deviations</a:t>
            </a:r>
            <a:endParaRPr dirty="0" sz="1100" lang="en-US"/>
          </a:p>
        </p:txBody>
      </p:sp>
      <p:sp>
        <p:nvSpPr>
          <p:cNvPr id="1049020" name="Text 8"/>
          <p:cNvSpPr/>
          <p:nvPr/>
        </p:nvSpPr>
        <p:spPr>
          <a:xfrm>
            <a:off x="475488" y="2432304"/>
            <a:ext cx="370332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Cross-tabulations</a:t>
            </a:r>
            <a:endParaRPr dirty="0" sz="1100" lang="en-US"/>
          </a:p>
        </p:txBody>
      </p:sp>
      <p:sp>
        <p:nvSpPr>
          <p:cNvPr id="1049021" name="Text 9"/>
          <p:cNvSpPr/>
          <p:nvPr/>
        </p:nvSpPr>
        <p:spPr>
          <a:xfrm>
            <a:off x="475488" y="2907792"/>
            <a:ext cx="370332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Regional Comparisons (Central, Eastern, Northern, Western)</a:t>
            </a:r>
            <a:endParaRPr dirty="0" sz="1100" lang="en-US"/>
          </a:p>
        </p:txBody>
      </p:sp>
      <p:sp>
        <p:nvSpPr>
          <p:cNvPr id="1049022" name="Text 10"/>
          <p:cNvSpPr/>
          <p:nvPr/>
        </p:nvSpPr>
        <p:spPr>
          <a:xfrm>
            <a:off x="475488" y="3383280"/>
            <a:ext cx="370332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Urban–Rural Comparisons</a:t>
            </a:r>
            <a:endParaRPr dirty="0" sz="1100" lang="en-US"/>
          </a:p>
        </p:txBody>
      </p:sp>
      <p:sp>
        <p:nvSpPr>
          <p:cNvPr id="1049023" name="Text 11"/>
          <p:cNvSpPr/>
          <p:nvPr/>
        </p:nvSpPr>
        <p:spPr>
          <a:xfrm>
            <a:off x="475488" y="3858768"/>
            <a:ext cx="370332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Gender-Based Comparisons</a:t>
            </a:r>
            <a:endParaRPr dirty="0" sz="1100" lang="en-US"/>
          </a:p>
        </p:txBody>
      </p:sp>
      <p:sp>
        <p:nvSpPr>
          <p:cNvPr id="1049024" name="Shape 12"/>
          <p:cNvSpPr/>
          <p:nvPr/>
        </p:nvSpPr>
        <p:spPr>
          <a:xfrm>
            <a:off x="4663440" y="960120"/>
            <a:ext cx="4114800" cy="379476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9025" name="Shape 13"/>
          <p:cNvSpPr/>
          <p:nvPr/>
        </p:nvSpPr>
        <p:spPr>
          <a:xfrm>
            <a:off x="4663440" y="960120"/>
            <a:ext cx="64008" cy="3794760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26" name="Text 14"/>
          <p:cNvSpPr/>
          <p:nvPr/>
        </p:nvSpPr>
        <p:spPr>
          <a:xfrm>
            <a:off x="4864608" y="1005840"/>
            <a:ext cx="37490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Inferential &amp; Econometric</a:t>
            </a:r>
            <a:endParaRPr dirty="0" sz="1300" lang="en-US"/>
          </a:p>
        </p:txBody>
      </p:sp>
      <p:sp>
        <p:nvSpPr>
          <p:cNvPr id="1049027" name="Shape 15"/>
          <p:cNvSpPr/>
          <p:nvPr/>
        </p:nvSpPr>
        <p:spPr>
          <a:xfrm>
            <a:off x="4864608" y="1536192"/>
            <a:ext cx="73152" cy="219456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28" name="Text 16"/>
          <p:cNvSpPr/>
          <p:nvPr/>
        </p:nvSpPr>
        <p:spPr>
          <a:xfrm>
            <a:off x="5047488" y="1481328"/>
            <a:ext cx="19202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Tests</a:t>
            </a:r>
            <a:endParaRPr dirty="0" sz="1050" lang="en-US"/>
          </a:p>
        </p:txBody>
      </p:sp>
      <p:sp>
        <p:nvSpPr>
          <p:cNvPr id="1049029" name="Text 17"/>
          <p:cNvSpPr/>
          <p:nvPr/>
        </p:nvSpPr>
        <p:spPr>
          <a:xfrm>
            <a:off x="5047488" y="1719072"/>
            <a:ext cx="356616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A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between categorical variables</a:t>
            </a:r>
            <a:endParaRPr dirty="0" sz="950" lang="en-US"/>
          </a:p>
        </p:txBody>
      </p:sp>
      <p:sp>
        <p:nvSpPr>
          <p:cNvPr id="1049030" name="Shape 18"/>
          <p:cNvSpPr/>
          <p:nvPr/>
        </p:nvSpPr>
        <p:spPr>
          <a:xfrm>
            <a:off x="4864608" y="2011680"/>
            <a:ext cx="73152" cy="219456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31" name="Text 19"/>
          <p:cNvSpPr/>
          <p:nvPr/>
        </p:nvSpPr>
        <p:spPr>
          <a:xfrm>
            <a:off x="5047488" y="1956816"/>
            <a:ext cx="19202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</a:t>
            </a:r>
            <a:endParaRPr dirty="0" sz="1050" lang="en-US"/>
          </a:p>
        </p:txBody>
      </p:sp>
      <p:sp>
        <p:nvSpPr>
          <p:cNvPr id="1049032" name="Text 20"/>
          <p:cNvSpPr/>
          <p:nvPr/>
        </p:nvSpPr>
        <p:spPr>
          <a:xfrm>
            <a:off x="5047488" y="2194560"/>
            <a:ext cx="356616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A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differences across regions/groups</a:t>
            </a:r>
            <a:endParaRPr dirty="0" sz="950" lang="en-US"/>
          </a:p>
        </p:txBody>
      </p:sp>
      <p:sp>
        <p:nvSpPr>
          <p:cNvPr id="1049033" name="Shape 21"/>
          <p:cNvSpPr/>
          <p:nvPr/>
        </p:nvSpPr>
        <p:spPr>
          <a:xfrm>
            <a:off x="4864608" y="2487168"/>
            <a:ext cx="73152" cy="219456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34" name="Text 22"/>
          <p:cNvSpPr/>
          <p:nvPr/>
        </p:nvSpPr>
        <p:spPr>
          <a:xfrm>
            <a:off x="5047488" y="2432304"/>
            <a:ext cx="19202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dirty="0" sz="1050" lang="en-US"/>
          </a:p>
        </p:txBody>
      </p:sp>
      <p:sp>
        <p:nvSpPr>
          <p:cNvPr id="1049035" name="Text 23"/>
          <p:cNvSpPr/>
          <p:nvPr/>
        </p:nvSpPr>
        <p:spPr>
          <a:xfrm>
            <a:off x="5047488" y="2670048"/>
            <a:ext cx="356616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A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relationships among indicators</a:t>
            </a:r>
            <a:endParaRPr dirty="0" sz="950" lang="en-US"/>
          </a:p>
        </p:txBody>
      </p:sp>
      <p:sp>
        <p:nvSpPr>
          <p:cNvPr id="1049036" name="Shape 24"/>
          <p:cNvSpPr/>
          <p:nvPr/>
        </p:nvSpPr>
        <p:spPr>
          <a:xfrm>
            <a:off x="4864608" y="2962656"/>
            <a:ext cx="73152" cy="219456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37" name="Text 25"/>
          <p:cNvSpPr/>
          <p:nvPr/>
        </p:nvSpPr>
        <p:spPr>
          <a:xfrm>
            <a:off x="5047488" y="2907792"/>
            <a:ext cx="19202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Regression</a:t>
            </a:r>
            <a:endParaRPr dirty="0" sz="1050" lang="en-US"/>
          </a:p>
        </p:txBody>
      </p:sp>
      <p:sp>
        <p:nvSpPr>
          <p:cNvPr id="1049038" name="Text 26"/>
          <p:cNvSpPr/>
          <p:nvPr/>
        </p:nvSpPr>
        <p:spPr>
          <a:xfrm>
            <a:off x="5047488" y="3145536"/>
            <a:ext cx="356616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A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Determinants of continuous IPI score</a:t>
            </a:r>
            <a:endParaRPr dirty="0" sz="950" lang="en-US"/>
          </a:p>
        </p:txBody>
      </p:sp>
      <p:sp>
        <p:nvSpPr>
          <p:cNvPr id="1049039" name="Shape 27"/>
          <p:cNvSpPr/>
          <p:nvPr/>
        </p:nvSpPr>
        <p:spPr>
          <a:xfrm>
            <a:off x="4864608" y="3438144"/>
            <a:ext cx="73152" cy="219456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40" name="Text 28"/>
          <p:cNvSpPr/>
          <p:nvPr/>
        </p:nvSpPr>
        <p:spPr>
          <a:xfrm>
            <a:off x="5047488" y="3383280"/>
            <a:ext cx="19202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dirty="0" sz="1050" lang="en-US"/>
          </a:p>
        </p:txBody>
      </p:sp>
      <p:sp>
        <p:nvSpPr>
          <p:cNvPr id="1049041" name="Text 29"/>
          <p:cNvSpPr/>
          <p:nvPr/>
        </p:nvSpPr>
        <p:spPr>
          <a:xfrm>
            <a:off x="5047488" y="3621024"/>
            <a:ext cx="356616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A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high vs. low prosperity (binary)</a:t>
            </a:r>
            <a:endParaRPr dirty="0" sz="950" lang="en-US"/>
          </a:p>
        </p:txBody>
      </p:sp>
      <p:sp>
        <p:nvSpPr>
          <p:cNvPr id="1049042" name="Shape 30"/>
          <p:cNvSpPr/>
          <p:nvPr/>
        </p:nvSpPr>
        <p:spPr>
          <a:xfrm>
            <a:off x="4864608" y="3913632"/>
            <a:ext cx="73152" cy="219456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43" name="Text 31"/>
          <p:cNvSpPr/>
          <p:nvPr/>
        </p:nvSpPr>
        <p:spPr>
          <a:xfrm>
            <a:off x="5047488" y="3858768"/>
            <a:ext cx="19202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Adjustments</a:t>
            </a:r>
            <a:endParaRPr dirty="0" sz="1050" lang="en-US"/>
          </a:p>
        </p:txBody>
      </p:sp>
      <p:sp>
        <p:nvSpPr>
          <p:cNvPr id="1049044" name="Text 32"/>
          <p:cNvSpPr/>
          <p:nvPr/>
        </p:nvSpPr>
        <p:spPr>
          <a:xfrm>
            <a:off x="5047488" y="4096512"/>
            <a:ext cx="356616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A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svy: prefix for design-based estimates</a:t>
            </a:r>
            <a:endParaRPr dirty="0" sz="95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5"/>
        </a:solidFill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7" name="Shape 0"/>
          <p:cNvSpPr/>
          <p:nvPr/>
        </p:nvSpPr>
        <p:spPr>
          <a:xfrm>
            <a:off x="0" y="0"/>
            <a:ext cx="9144000" cy="822960"/>
          </a:xfrm>
          <a:prstGeom prst="rect"/>
          <a:solidFill>
            <a:srgbClr val="004D2C"/>
          </a:solidFill>
          <a:ln w="12700">
            <a:solidFill>
              <a:srgbClr val="004D2C"/>
            </a:solidFill>
            <a:prstDash val="solid"/>
          </a:ln>
        </p:spPr>
      </p:sp>
      <p:sp>
        <p:nvSpPr>
          <p:cNvPr id="1048758" name="Shape 1"/>
          <p:cNvSpPr/>
          <p:nvPr/>
        </p:nvSpPr>
        <p:spPr>
          <a:xfrm>
            <a:off x="0" y="822960"/>
            <a:ext cx="9144000" cy="5029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759" name="Text 2"/>
          <p:cNvSpPr/>
          <p:nvPr/>
        </p:nvSpPr>
        <p:spPr>
          <a:xfrm>
            <a:off x="411480" y="0"/>
            <a:ext cx="832104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Machine Learning &amp; Predictive Analytics</a:t>
            </a:r>
            <a:endParaRPr dirty="0" sz="2200" lang="en-US"/>
          </a:p>
        </p:txBody>
      </p:sp>
      <p:sp>
        <p:nvSpPr>
          <p:cNvPr id="1048760" name="Shape 3"/>
          <p:cNvSpPr/>
          <p:nvPr/>
        </p:nvSpPr>
        <p:spPr>
          <a:xfrm>
            <a:off x="274320" y="960120"/>
            <a:ext cx="4114800" cy="192024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61" name="Shape 4"/>
          <p:cNvSpPr/>
          <p:nvPr/>
        </p:nvSpPr>
        <p:spPr>
          <a:xfrm>
            <a:off x="274320" y="960120"/>
            <a:ext cx="4114800" cy="548640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762" name="Text 5"/>
          <p:cNvSpPr/>
          <p:nvPr/>
        </p:nvSpPr>
        <p:spPr>
          <a:xfrm>
            <a:off x="274320" y="960120"/>
            <a:ext cx="411480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Random Forest</a:t>
            </a:r>
            <a:endParaRPr dirty="0" sz="1500" lang="en-US"/>
          </a:p>
        </p:txBody>
      </p:sp>
      <p:sp>
        <p:nvSpPr>
          <p:cNvPr id="1048763" name="Text 6"/>
          <p:cNvSpPr/>
          <p:nvPr/>
        </p:nvSpPr>
        <p:spPr>
          <a:xfrm>
            <a:off x="457200" y="1572768"/>
            <a:ext cx="3749040" cy="11887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trees. Handles non-linearity, missing data, and interaction effects. Provides feature importance rankings.</a:t>
            </a:r>
            <a:endParaRPr dirty="0" sz="1100" lang="en-US"/>
          </a:p>
        </p:txBody>
      </p:sp>
      <p:sp>
        <p:nvSpPr>
          <p:cNvPr id="1048764" name="Shape 7"/>
          <p:cNvSpPr/>
          <p:nvPr/>
        </p:nvSpPr>
        <p:spPr>
          <a:xfrm>
            <a:off x="4663440" y="960120"/>
            <a:ext cx="4114800" cy="192024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65" name="Shape 8"/>
          <p:cNvSpPr/>
          <p:nvPr/>
        </p:nvSpPr>
        <p:spPr>
          <a:xfrm>
            <a:off x="4663440" y="960120"/>
            <a:ext cx="4114800" cy="548640"/>
          </a:xfrm>
          <a:prstGeom prst="rect"/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48766" name="Text 9"/>
          <p:cNvSpPr/>
          <p:nvPr/>
        </p:nvSpPr>
        <p:spPr>
          <a:xfrm>
            <a:off x="4663440" y="960120"/>
            <a:ext cx="411480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XGBoost</a:t>
            </a:r>
            <a:endParaRPr dirty="0" sz="1500" lang="en-US"/>
          </a:p>
        </p:txBody>
      </p:sp>
      <p:sp>
        <p:nvSpPr>
          <p:cNvPr id="1048767" name="Text 10"/>
          <p:cNvSpPr/>
          <p:nvPr/>
        </p:nvSpPr>
        <p:spPr>
          <a:xfrm>
            <a:off x="4846320" y="1572768"/>
            <a:ext cx="3749040" cy="11887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Gradient Boosting. State-of-the-art predictive power. Sequential error correction. Hyperparameter-tuned for optimal F1.</a:t>
            </a:r>
            <a:endParaRPr dirty="0" sz="1100" lang="en-US"/>
          </a:p>
        </p:txBody>
      </p:sp>
      <p:sp>
        <p:nvSpPr>
          <p:cNvPr id="1048768" name="Shape 11"/>
          <p:cNvSpPr/>
          <p:nvPr/>
        </p:nvSpPr>
        <p:spPr>
          <a:xfrm>
            <a:off x="274320" y="3017520"/>
            <a:ext cx="8595360" cy="914400"/>
          </a:xfrm>
          <a:prstGeom prst="rect"/>
          <a:solidFill>
            <a:srgbClr val="F4F8F5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69" name="Text 12"/>
          <p:cNvSpPr/>
          <p:nvPr/>
        </p:nvSpPr>
        <p:spPr>
          <a:xfrm>
            <a:off x="475488" y="3063240"/>
            <a:ext cx="18288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dirty="0" sz="1200" lang="en-US"/>
          </a:p>
        </p:txBody>
      </p:sp>
      <p:sp>
        <p:nvSpPr>
          <p:cNvPr id="1048770" name="Shape 13"/>
          <p:cNvSpPr/>
          <p:nvPr/>
        </p:nvSpPr>
        <p:spPr>
          <a:xfrm>
            <a:off x="2286000" y="3090672"/>
            <a:ext cx="1188720" cy="438912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771" name="Text 14"/>
          <p:cNvSpPr/>
          <p:nvPr/>
        </p:nvSpPr>
        <p:spPr>
          <a:xfrm>
            <a:off x="2286000" y="3090672"/>
            <a:ext cx="1188720" cy="43891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dirty="0" sz="1000" lang="en-US"/>
          </a:p>
        </p:txBody>
      </p:sp>
      <p:sp>
        <p:nvSpPr>
          <p:cNvPr id="1048772" name="Shape 15"/>
          <p:cNvSpPr/>
          <p:nvPr/>
        </p:nvSpPr>
        <p:spPr>
          <a:xfrm>
            <a:off x="3611880" y="3090672"/>
            <a:ext cx="1188720" cy="438912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773" name="Text 16"/>
          <p:cNvSpPr/>
          <p:nvPr/>
        </p:nvSpPr>
        <p:spPr>
          <a:xfrm>
            <a:off x="3611880" y="3090672"/>
            <a:ext cx="1188720" cy="43891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dirty="0" sz="1000" lang="en-US"/>
          </a:p>
        </p:txBody>
      </p:sp>
      <p:sp>
        <p:nvSpPr>
          <p:cNvPr id="1048774" name="Shape 17"/>
          <p:cNvSpPr/>
          <p:nvPr/>
        </p:nvSpPr>
        <p:spPr>
          <a:xfrm>
            <a:off x="4937760" y="3090672"/>
            <a:ext cx="1188720" cy="438912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775" name="Text 18"/>
          <p:cNvSpPr/>
          <p:nvPr/>
        </p:nvSpPr>
        <p:spPr>
          <a:xfrm>
            <a:off x="4937760" y="3090672"/>
            <a:ext cx="1188720" cy="43891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dirty="0" sz="1000" lang="en-US"/>
          </a:p>
        </p:txBody>
      </p:sp>
      <p:sp>
        <p:nvSpPr>
          <p:cNvPr id="1048776" name="Shape 19"/>
          <p:cNvSpPr/>
          <p:nvPr/>
        </p:nvSpPr>
        <p:spPr>
          <a:xfrm>
            <a:off x="6263640" y="3090672"/>
            <a:ext cx="1188720" cy="438912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777" name="Text 20"/>
          <p:cNvSpPr/>
          <p:nvPr/>
        </p:nvSpPr>
        <p:spPr>
          <a:xfrm>
            <a:off x="6263640" y="3090672"/>
            <a:ext cx="1188720" cy="43891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dirty="0" sz="1000" lang="en-US"/>
          </a:p>
        </p:txBody>
      </p:sp>
      <p:sp>
        <p:nvSpPr>
          <p:cNvPr id="1048778" name="Shape 21"/>
          <p:cNvSpPr/>
          <p:nvPr/>
        </p:nvSpPr>
        <p:spPr>
          <a:xfrm>
            <a:off x="7589520" y="3090672"/>
            <a:ext cx="1188720" cy="438912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779" name="Text 22"/>
          <p:cNvSpPr/>
          <p:nvPr/>
        </p:nvSpPr>
        <p:spPr>
          <a:xfrm>
            <a:off x="7589520" y="3090672"/>
            <a:ext cx="1188720" cy="43891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dirty="0" sz="1000" lang="en-US"/>
          </a:p>
        </p:txBody>
      </p:sp>
      <p:sp>
        <p:nvSpPr>
          <p:cNvPr id="1048780" name="Shape 23"/>
          <p:cNvSpPr/>
          <p:nvPr/>
        </p:nvSpPr>
        <p:spPr>
          <a:xfrm>
            <a:off x="274320" y="4041648"/>
            <a:ext cx="8595360" cy="804672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81" name="Text 24"/>
          <p:cNvSpPr/>
          <p:nvPr/>
        </p:nvSpPr>
        <p:spPr>
          <a:xfrm>
            <a:off x="457200" y="4114800"/>
            <a:ext cx="8229600" cy="56692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50" i="1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Workflow:  Raw Data  →  Feature Engineering  →  Train / Test Split (80/20)  →  Model Training  →  Hyperparameter Tuning  →  Feature Importance  →  Policy Insights</a:t>
            </a:r>
            <a:endParaRPr dirty="0" sz="105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5"/>
        </a:solidFill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Shape 0"/>
          <p:cNvSpPr/>
          <p:nvPr/>
        </p:nvSpPr>
        <p:spPr>
          <a:xfrm>
            <a:off x="0" y="0"/>
            <a:ext cx="9144000" cy="822960"/>
          </a:xfrm>
          <a:prstGeom prst="rect"/>
          <a:solidFill>
            <a:srgbClr val="004D2C"/>
          </a:solidFill>
          <a:ln w="12700">
            <a:solidFill>
              <a:srgbClr val="004D2C"/>
            </a:solidFill>
            <a:prstDash val="solid"/>
          </a:ln>
        </p:spPr>
      </p:sp>
      <p:sp>
        <p:nvSpPr>
          <p:cNvPr id="1048679" name="Shape 1"/>
          <p:cNvSpPr/>
          <p:nvPr/>
        </p:nvSpPr>
        <p:spPr>
          <a:xfrm>
            <a:off x="0" y="822960"/>
            <a:ext cx="9144000" cy="5029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680" name="Text 2"/>
          <p:cNvSpPr/>
          <p:nvPr/>
        </p:nvSpPr>
        <p:spPr>
          <a:xfrm>
            <a:off x="411480" y="0"/>
            <a:ext cx="832104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Robustness &amp; Sensitivity Analysis</a:t>
            </a:r>
            <a:endParaRPr dirty="0" sz="2200" lang="en-US"/>
          </a:p>
        </p:txBody>
      </p:sp>
      <p:sp>
        <p:nvSpPr>
          <p:cNvPr id="1048681" name="Text 3"/>
          <p:cNvSpPr/>
          <p:nvPr/>
        </p:nvSpPr>
        <p:spPr>
          <a:xfrm>
            <a:off x="274320" y="932688"/>
            <a:ext cx="859536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i="1" lang="en-US">
                <a:solidFill>
                  <a:srgbClr val="4A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independent checks verify that results are stable, reliable, and not artefacts of any single methodological choice:</a:t>
            </a:r>
            <a:endParaRPr dirty="0" sz="1100" lang="en-US"/>
          </a:p>
        </p:txBody>
      </p:sp>
      <p:sp>
        <p:nvSpPr>
          <p:cNvPr id="1048682" name="Shape 4"/>
          <p:cNvSpPr/>
          <p:nvPr/>
        </p:nvSpPr>
        <p:spPr>
          <a:xfrm>
            <a:off x="274320" y="1417320"/>
            <a:ext cx="2743200" cy="1572768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83" name="Shape 5"/>
          <p:cNvSpPr/>
          <p:nvPr/>
        </p:nvSpPr>
        <p:spPr>
          <a:xfrm>
            <a:off x="274320" y="1417320"/>
            <a:ext cx="64008" cy="1572768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684" name="Text 6"/>
          <p:cNvSpPr/>
          <p:nvPr/>
        </p:nvSpPr>
        <p:spPr>
          <a:xfrm>
            <a:off x="457200" y="1527048"/>
            <a:ext cx="50292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200" lang="en-US">
                <a:solidFill>
                  <a:srgbClr val="000000"/>
                </a:solidFill>
              </a:rPr>
              <a:t>⚖️</a:t>
            </a:r>
            <a:endParaRPr dirty="0" sz="2200" lang="en-US"/>
          </a:p>
        </p:txBody>
      </p:sp>
      <p:sp>
        <p:nvSpPr>
          <p:cNvPr id="1048685" name="Text 7"/>
          <p:cNvSpPr/>
          <p:nvPr/>
        </p:nvSpPr>
        <p:spPr>
          <a:xfrm>
            <a:off x="475488" y="2039112"/>
            <a:ext cx="242316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Index Construction</a:t>
            </a:r>
            <a:endParaRPr dirty="0" sz="1050" lang="en-US"/>
          </a:p>
        </p:txBody>
      </p:sp>
      <p:sp>
        <p:nvSpPr>
          <p:cNvPr id="1048686" name="Text 8"/>
          <p:cNvSpPr/>
          <p:nvPr/>
        </p:nvSpPr>
        <p:spPr>
          <a:xfrm>
            <a:off x="475488" y="2377440"/>
            <a:ext cx="242316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weights vs. Equal-Weights Index — assess household ranking consistency.</a:t>
            </a:r>
            <a:endParaRPr dirty="0" sz="950" lang="en-US"/>
          </a:p>
        </p:txBody>
      </p:sp>
      <p:sp>
        <p:nvSpPr>
          <p:cNvPr id="1048687" name="Shape 9"/>
          <p:cNvSpPr/>
          <p:nvPr/>
        </p:nvSpPr>
        <p:spPr>
          <a:xfrm>
            <a:off x="3200400" y="1417320"/>
            <a:ext cx="2743200" cy="1572768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88" name="Shape 10"/>
          <p:cNvSpPr/>
          <p:nvPr/>
        </p:nvSpPr>
        <p:spPr>
          <a:xfrm>
            <a:off x="3200400" y="1417320"/>
            <a:ext cx="64008" cy="1572768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689" name="Text 11"/>
          <p:cNvSpPr/>
          <p:nvPr/>
        </p:nvSpPr>
        <p:spPr>
          <a:xfrm>
            <a:off x="3383280" y="1527048"/>
            <a:ext cx="50292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200" lang="en-US">
                <a:solidFill>
                  <a:srgbClr val="000000"/>
                </a:solidFill>
              </a:rPr>
              <a:t>🔍</a:t>
            </a:r>
            <a:endParaRPr dirty="0" sz="2200" lang="en-US"/>
          </a:p>
        </p:txBody>
      </p:sp>
      <p:sp>
        <p:nvSpPr>
          <p:cNvPr id="1048690" name="Text 12"/>
          <p:cNvSpPr/>
          <p:nvPr/>
        </p:nvSpPr>
        <p:spPr>
          <a:xfrm>
            <a:off x="3401568" y="2039112"/>
            <a:ext cx="242316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Sensitivity</a:t>
            </a:r>
            <a:endParaRPr dirty="0" sz="1050" lang="en-US"/>
          </a:p>
        </p:txBody>
      </p:sp>
      <p:sp>
        <p:nvSpPr>
          <p:cNvPr id="1048691" name="Text 13"/>
          <p:cNvSpPr/>
          <p:nvPr/>
        </p:nvSpPr>
        <p:spPr>
          <a:xfrm>
            <a:off x="3401568" y="2377440"/>
            <a:ext cx="242316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IPI excluding individual dimensions — test dimension indispensability.</a:t>
            </a:r>
            <a:endParaRPr dirty="0" sz="950" lang="en-US"/>
          </a:p>
        </p:txBody>
      </p:sp>
      <p:sp>
        <p:nvSpPr>
          <p:cNvPr id="1048692" name="Shape 14"/>
          <p:cNvSpPr/>
          <p:nvPr/>
        </p:nvSpPr>
        <p:spPr>
          <a:xfrm>
            <a:off x="6126480" y="1417320"/>
            <a:ext cx="2743200" cy="1572768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93" name="Shape 15"/>
          <p:cNvSpPr/>
          <p:nvPr/>
        </p:nvSpPr>
        <p:spPr>
          <a:xfrm>
            <a:off x="6126480" y="1417320"/>
            <a:ext cx="64008" cy="1572768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694" name="Text 16"/>
          <p:cNvSpPr/>
          <p:nvPr/>
        </p:nvSpPr>
        <p:spPr>
          <a:xfrm>
            <a:off x="6309360" y="1527048"/>
            <a:ext cx="50292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200" lang="en-US">
                <a:solidFill>
                  <a:srgbClr val="000000"/>
                </a:solidFill>
              </a:rPr>
              <a:t>📈</a:t>
            </a:r>
            <a:endParaRPr dirty="0" sz="2200" lang="en-US"/>
          </a:p>
        </p:txBody>
      </p:sp>
      <p:sp>
        <p:nvSpPr>
          <p:cNvPr id="1048695" name="Text 17"/>
          <p:cNvSpPr/>
          <p:nvPr/>
        </p:nvSpPr>
        <p:spPr>
          <a:xfrm>
            <a:off x="6327648" y="2039112"/>
            <a:ext cx="242316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Econometric Specs</a:t>
            </a:r>
            <a:endParaRPr dirty="0" sz="1050" lang="en-US"/>
          </a:p>
        </p:txBody>
      </p:sp>
      <p:sp>
        <p:nvSpPr>
          <p:cNvPr id="1048696" name="Text 18"/>
          <p:cNvSpPr/>
          <p:nvPr/>
        </p:nvSpPr>
        <p:spPr>
          <a:xfrm>
            <a:off x="6327648" y="2377440"/>
            <a:ext cx="242316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vs. Probit regression — examine coefficient stability and sign consistency.</a:t>
            </a:r>
            <a:endParaRPr dirty="0" sz="950" lang="en-US"/>
          </a:p>
        </p:txBody>
      </p:sp>
      <p:sp>
        <p:nvSpPr>
          <p:cNvPr id="1048697" name="Shape 19"/>
          <p:cNvSpPr/>
          <p:nvPr/>
        </p:nvSpPr>
        <p:spPr>
          <a:xfrm>
            <a:off x="274320" y="3136392"/>
            <a:ext cx="2743200" cy="1572768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98" name="Shape 20"/>
          <p:cNvSpPr/>
          <p:nvPr/>
        </p:nvSpPr>
        <p:spPr>
          <a:xfrm>
            <a:off x="274320" y="3136392"/>
            <a:ext cx="64008" cy="1572768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699" name="Text 21"/>
          <p:cNvSpPr/>
          <p:nvPr/>
        </p:nvSpPr>
        <p:spPr>
          <a:xfrm>
            <a:off x="457200" y="3246120"/>
            <a:ext cx="50292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200" lang="en-US">
                <a:solidFill>
                  <a:srgbClr val="000000"/>
                </a:solidFill>
              </a:rPr>
              <a:t>🗺️</a:t>
            </a:r>
            <a:endParaRPr dirty="0" sz="2200" lang="en-US"/>
          </a:p>
        </p:txBody>
      </p:sp>
      <p:sp>
        <p:nvSpPr>
          <p:cNvPr id="1048700" name="Text 22"/>
          <p:cNvSpPr/>
          <p:nvPr/>
        </p:nvSpPr>
        <p:spPr>
          <a:xfrm>
            <a:off x="475488" y="3758184"/>
            <a:ext cx="242316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Subsample Analysis</a:t>
            </a:r>
            <a:endParaRPr dirty="0" sz="1050" lang="en-US"/>
          </a:p>
        </p:txBody>
      </p:sp>
      <p:sp>
        <p:nvSpPr>
          <p:cNvPr id="1048701" name="Text 23"/>
          <p:cNvSpPr/>
          <p:nvPr/>
        </p:nvSpPr>
        <p:spPr>
          <a:xfrm>
            <a:off x="475488" y="4096512"/>
            <a:ext cx="242316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models for Central, Eastern, Northern, Western Uganda separately.</a:t>
            </a:r>
            <a:endParaRPr dirty="0" sz="950" lang="en-US"/>
          </a:p>
        </p:txBody>
      </p:sp>
      <p:sp>
        <p:nvSpPr>
          <p:cNvPr id="1048702" name="Shape 24"/>
          <p:cNvSpPr/>
          <p:nvPr/>
        </p:nvSpPr>
        <p:spPr>
          <a:xfrm>
            <a:off x="3200400" y="3136392"/>
            <a:ext cx="2743200" cy="1572768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03" name="Shape 25"/>
          <p:cNvSpPr/>
          <p:nvPr/>
        </p:nvSpPr>
        <p:spPr>
          <a:xfrm>
            <a:off x="3200400" y="3136392"/>
            <a:ext cx="64008" cy="1572768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704" name="Text 26"/>
          <p:cNvSpPr/>
          <p:nvPr/>
        </p:nvSpPr>
        <p:spPr>
          <a:xfrm>
            <a:off x="3383280" y="3246120"/>
            <a:ext cx="50292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200" lang="en-US">
                <a:solidFill>
                  <a:srgbClr val="000000"/>
                </a:solidFill>
              </a:rPr>
              <a:t>🔢</a:t>
            </a:r>
            <a:endParaRPr dirty="0" sz="2200" lang="en-US"/>
          </a:p>
        </p:txBody>
      </p:sp>
      <p:sp>
        <p:nvSpPr>
          <p:cNvPr id="1048705" name="Text 27"/>
          <p:cNvSpPr/>
          <p:nvPr/>
        </p:nvSpPr>
        <p:spPr>
          <a:xfrm>
            <a:off x="3401568" y="3758184"/>
            <a:ext cx="242316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Weight Sensitivity</a:t>
            </a:r>
            <a:endParaRPr dirty="0" sz="1050" lang="en-US"/>
          </a:p>
        </p:txBody>
      </p:sp>
      <p:sp>
        <p:nvSpPr>
          <p:cNvPr id="1048706" name="Text 28"/>
          <p:cNvSpPr/>
          <p:nvPr/>
        </p:nvSpPr>
        <p:spPr>
          <a:xfrm>
            <a:off x="3401568" y="4096512"/>
            <a:ext cx="242316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weighted vs. unweighted estimates across all key outcomes.</a:t>
            </a:r>
            <a:endParaRPr dirty="0" sz="950" lang="en-US"/>
          </a:p>
        </p:txBody>
      </p:sp>
      <p:sp>
        <p:nvSpPr>
          <p:cNvPr id="1048707" name="Shape 29"/>
          <p:cNvSpPr/>
          <p:nvPr/>
        </p:nvSpPr>
        <p:spPr>
          <a:xfrm>
            <a:off x="6126480" y="3136392"/>
            <a:ext cx="2743200" cy="1572768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08" name="Shape 30"/>
          <p:cNvSpPr/>
          <p:nvPr/>
        </p:nvSpPr>
        <p:spPr>
          <a:xfrm>
            <a:off x="6126480" y="3136392"/>
            <a:ext cx="64008" cy="1572768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709" name="Text 31"/>
          <p:cNvSpPr/>
          <p:nvPr/>
        </p:nvSpPr>
        <p:spPr>
          <a:xfrm>
            <a:off x="6309360" y="3246120"/>
            <a:ext cx="50292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200" lang="en-US">
                <a:solidFill>
                  <a:srgbClr val="000000"/>
                </a:solidFill>
              </a:rPr>
              <a:t>🔄</a:t>
            </a:r>
            <a:endParaRPr dirty="0" sz="2200" lang="en-US"/>
          </a:p>
        </p:txBody>
      </p:sp>
      <p:sp>
        <p:nvSpPr>
          <p:cNvPr id="1048710" name="Text 32"/>
          <p:cNvSpPr/>
          <p:nvPr/>
        </p:nvSpPr>
        <p:spPr>
          <a:xfrm>
            <a:off x="6327648" y="3758184"/>
            <a:ext cx="242316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00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Cross-Validation</a:t>
            </a:r>
            <a:endParaRPr dirty="0" sz="1050" lang="en-US"/>
          </a:p>
        </p:txBody>
      </p:sp>
      <p:sp>
        <p:nvSpPr>
          <p:cNvPr id="1048711" name="Text 33"/>
          <p:cNvSpPr/>
          <p:nvPr/>
        </p:nvSpPr>
        <p:spPr>
          <a:xfrm>
            <a:off x="6327648" y="4096512"/>
            <a:ext cx="242316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 stability across k-fold partitions of the dataset.</a:t>
            </a:r>
            <a:endParaRPr dirty="0" sz="95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5"/>
        </a:solidFill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Shape 0"/>
          <p:cNvSpPr/>
          <p:nvPr/>
        </p:nvSpPr>
        <p:spPr>
          <a:xfrm>
            <a:off x="0" y="0"/>
            <a:ext cx="9144000" cy="822960"/>
          </a:xfrm>
          <a:prstGeom prst="rect"/>
          <a:solidFill>
            <a:srgbClr val="004D2C"/>
          </a:solidFill>
          <a:ln w="12700">
            <a:solidFill>
              <a:srgbClr val="004D2C"/>
            </a:solidFill>
            <a:prstDash val="solid"/>
          </a:ln>
        </p:spPr>
      </p:sp>
      <p:sp>
        <p:nvSpPr>
          <p:cNvPr id="1048616" name="Shape 1"/>
          <p:cNvSpPr/>
          <p:nvPr/>
        </p:nvSpPr>
        <p:spPr>
          <a:xfrm>
            <a:off x="0" y="822960"/>
            <a:ext cx="9144000" cy="5029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617" name="Text 2"/>
          <p:cNvSpPr/>
          <p:nvPr/>
        </p:nvSpPr>
        <p:spPr>
          <a:xfrm>
            <a:off x="411480" y="0"/>
            <a:ext cx="832104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7: Interactive Dashboard &amp; Data Visualization</a:t>
            </a:r>
            <a:endParaRPr dirty="0" sz="2200" lang="en-US"/>
          </a:p>
        </p:txBody>
      </p:sp>
      <p:sp>
        <p:nvSpPr>
          <p:cNvPr id="1048618" name="Shape 3"/>
          <p:cNvSpPr/>
          <p:nvPr/>
        </p:nvSpPr>
        <p:spPr>
          <a:xfrm>
            <a:off x="274320" y="987552"/>
            <a:ext cx="2743200" cy="1572768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19" name="Shape 4"/>
          <p:cNvSpPr/>
          <p:nvPr/>
        </p:nvSpPr>
        <p:spPr>
          <a:xfrm>
            <a:off x="274320" y="987552"/>
            <a:ext cx="2743200" cy="502920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620" name="Text 5"/>
          <p:cNvSpPr/>
          <p:nvPr/>
        </p:nvSpPr>
        <p:spPr>
          <a:xfrm>
            <a:off x="365760" y="987552"/>
            <a:ext cx="256032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Geospatial Prosperity Map</a:t>
            </a:r>
            <a:endParaRPr dirty="0" sz="1100" lang="en-US"/>
          </a:p>
        </p:txBody>
      </p:sp>
      <p:sp>
        <p:nvSpPr>
          <p:cNvPr id="1048621" name="Text 6"/>
          <p:cNvSpPr/>
          <p:nvPr/>
        </p:nvSpPr>
        <p:spPr>
          <a:xfrm>
            <a:off x="384048" y="1554480"/>
            <a:ext cx="2523744" cy="89611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IPI choropleth maps of Uganda showing regional prosperity gradients.</a:t>
            </a:r>
            <a:endParaRPr dirty="0" sz="1000" lang="en-US"/>
          </a:p>
        </p:txBody>
      </p:sp>
      <p:sp>
        <p:nvSpPr>
          <p:cNvPr id="1048622" name="Shape 7"/>
          <p:cNvSpPr/>
          <p:nvPr/>
        </p:nvSpPr>
        <p:spPr>
          <a:xfrm>
            <a:off x="3200400" y="987552"/>
            <a:ext cx="2743200" cy="1572768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23" name="Shape 8"/>
          <p:cNvSpPr/>
          <p:nvPr/>
        </p:nvSpPr>
        <p:spPr>
          <a:xfrm>
            <a:off x="3200400" y="987552"/>
            <a:ext cx="2743200" cy="502920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624" name="Text 9"/>
          <p:cNvSpPr/>
          <p:nvPr/>
        </p:nvSpPr>
        <p:spPr>
          <a:xfrm>
            <a:off x="3291840" y="987552"/>
            <a:ext cx="256032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Regional Rankings Dashboard</a:t>
            </a:r>
            <a:endParaRPr dirty="0" sz="1100" lang="en-US"/>
          </a:p>
        </p:txBody>
      </p:sp>
      <p:sp>
        <p:nvSpPr>
          <p:cNvPr id="1048625" name="Text 10"/>
          <p:cNvSpPr/>
          <p:nvPr/>
        </p:nvSpPr>
        <p:spPr>
          <a:xfrm>
            <a:off x="3310128" y="1554480"/>
            <a:ext cx="2523744" cy="89611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bar and radar charts ranking districts and regions by IPI dimension.</a:t>
            </a:r>
            <a:endParaRPr dirty="0" sz="1000" lang="en-US"/>
          </a:p>
        </p:txBody>
      </p:sp>
      <p:sp>
        <p:nvSpPr>
          <p:cNvPr id="1048626" name="Shape 11"/>
          <p:cNvSpPr/>
          <p:nvPr/>
        </p:nvSpPr>
        <p:spPr>
          <a:xfrm>
            <a:off x="6126480" y="987552"/>
            <a:ext cx="2743200" cy="1572768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27" name="Shape 12"/>
          <p:cNvSpPr/>
          <p:nvPr/>
        </p:nvSpPr>
        <p:spPr>
          <a:xfrm>
            <a:off x="6126480" y="987552"/>
            <a:ext cx="2743200" cy="502920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628" name="Text 13"/>
          <p:cNvSpPr/>
          <p:nvPr/>
        </p:nvSpPr>
        <p:spPr>
          <a:xfrm>
            <a:off x="6217920" y="987552"/>
            <a:ext cx="256032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 Dynamic Filtering &amp; Drill-Down</a:t>
            </a:r>
            <a:endParaRPr dirty="0" sz="1100" lang="en-US"/>
          </a:p>
        </p:txBody>
      </p:sp>
      <p:sp>
        <p:nvSpPr>
          <p:cNvPr id="1048629" name="Text 14"/>
          <p:cNvSpPr/>
          <p:nvPr/>
        </p:nvSpPr>
        <p:spPr>
          <a:xfrm>
            <a:off x="6236208" y="1554480"/>
            <a:ext cx="2523744" cy="89611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region, gender of household head, urban/rural classification in real time.</a:t>
            </a:r>
            <a:endParaRPr dirty="0" sz="1000" lang="en-US"/>
          </a:p>
        </p:txBody>
      </p:sp>
      <p:sp>
        <p:nvSpPr>
          <p:cNvPr id="1048630" name="Shape 15"/>
          <p:cNvSpPr/>
          <p:nvPr/>
        </p:nvSpPr>
        <p:spPr>
          <a:xfrm>
            <a:off x="274320" y="2706624"/>
            <a:ext cx="2743200" cy="1572768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31" name="Shape 16"/>
          <p:cNvSpPr/>
          <p:nvPr/>
        </p:nvSpPr>
        <p:spPr>
          <a:xfrm>
            <a:off x="274320" y="2706624"/>
            <a:ext cx="2743200" cy="502920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632" name="Text 17"/>
          <p:cNvSpPr/>
          <p:nvPr/>
        </p:nvSpPr>
        <p:spPr>
          <a:xfrm>
            <a:off x="365760" y="2706624"/>
            <a:ext cx="256032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Indicator Cards</a:t>
            </a:r>
            <a:endParaRPr dirty="0" sz="1100" lang="en-US"/>
          </a:p>
        </p:txBody>
      </p:sp>
      <p:sp>
        <p:nvSpPr>
          <p:cNvPr id="1048633" name="Text 18"/>
          <p:cNvSpPr/>
          <p:nvPr/>
        </p:nvSpPr>
        <p:spPr>
          <a:xfrm>
            <a:off x="384048" y="3273552"/>
            <a:ext cx="2523744" cy="89611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KPI panels for electricity access, school attendance, internet penetration.</a:t>
            </a:r>
            <a:endParaRPr dirty="0" sz="1000" lang="en-US"/>
          </a:p>
        </p:txBody>
      </p:sp>
      <p:sp>
        <p:nvSpPr>
          <p:cNvPr id="1048634" name="Shape 19"/>
          <p:cNvSpPr/>
          <p:nvPr/>
        </p:nvSpPr>
        <p:spPr>
          <a:xfrm>
            <a:off x="3200400" y="2706624"/>
            <a:ext cx="2743200" cy="1572768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35" name="Shape 20"/>
          <p:cNvSpPr/>
          <p:nvPr/>
        </p:nvSpPr>
        <p:spPr>
          <a:xfrm>
            <a:off x="3200400" y="2706624"/>
            <a:ext cx="2743200" cy="502920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636" name="Text 21"/>
          <p:cNvSpPr/>
          <p:nvPr/>
        </p:nvSpPr>
        <p:spPr>
          <a:xfrm>
            <a:off x="3291840" y="2706624"/>
            <a:ext cx="256032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Vulnerability Profiling</a:t>
            </a:r>
            <a:endParaRPr dirty="0" sz="1100" lang="en-US"/>
          </a:p>
        </p:txBody>
      </p:sp>
      <p:sp>
        <p:nvSpPr>
          <p:cNvPr id="1048637" name="Text 22"/>
          <p:cNvSpPr/>
          <p:nvPr/>
        </p:nvSpPr>
        <p:spPr>
          <a:xfrm>
            <a:off x="3310128" y="3273552"/>
            <a:ext cx="2523744" cy="89611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low-prosperity clusters and demographic subgroups for targeted intervention.</a:t>
            </a:r>
            <a:endParaRPr dirty="0" sz="1000" lang="en-US"/>
          </a:p>
        </p:txBody>
      </p:sp>
      <p:sp>
        <p:nvSpPr>
          <p:cNvPr id="1048638" name="Shape 23"/>
          <p:cNvSpPr/>
          <p:nvPr/>
        </p:nvSpPr>
        <p:spPr>
          <a:xfrm>
            <a:off x="6126480" y="2706624"/>
            <a:ext cx="2743200" cy="1572768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39" name="Shape 24"/>
          <p:cNvSpPr/>
          <p:nvPr/>
        </p:nvSpPr>
        <p:spPr>
          <a:xfrm>
            <a:off x="6126480" y="2706624"/>
            <a:ext cx="2743200" cy="502920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640" name="Text 25"/>
          <p:cNvSpPr/>
          <p:nvPr/>
        </p:nvSpPr>
        <p:spPr>
          <a:xfrm>
            <a:off x="6217920" y="2706624"/>
            <a:ext cx="256032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Policy Communication Layer</a:t>
            </a:r>
            <a:endParaRPr dirty="0" sz="1100" lang="en-US"/>
          </a:p>
        </p:txBody>
      </p:sp>
      <p:sp>
        <p:nvSpPr>
          <p:cNvPr id="1048641" name="Text 26"/>
          <p:cNvSpPr/>
          <p:nvPr/>
        </p:nvSpPr>
        <p:spPr>
          <a:xfrm>
            <a:off x="6236208" y="3273552"/>
            <a:ext cx="2523744" cy="89611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UBOS, MoFPED, district planners, and development partners.</a:t>
            </a:r>
            <a:endParaRPr dirty="0" sz="100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"/>
          <p:cNvSpPr txBox="1"/>
          <p:nvPr/>
        </p:nvSpPr>
        <p:spPr>
          <a:xfrm>
            <a:off x="583383" y="2393950"/>
            <a:ext cx="7605596" cy="510540"/>
          </a:xfrm>
          <a:prstGeom prst="rect"/>
        </p:spPr>
        <p:txBody>
          <a:bodyPr rtlCol="0" wrap="square">
            <a:spAutoFit/>
          </a:bodyPr>
          <a:p>
            <a:r>
              <a:rPr altLang="en-GB" sz="2800" lang="en-US">
                <a:solidFill>
                  <a:srgbClr val="000000"/>
                </a:solidFill>
                <a:hlinkClick r:id="rId1"/>
              </a:rPr>
              <a:t>I</a:t>
            </a:r>
            <a:r>
              <a:rPr altLang="en-GB" sz="2800" lang="en-US">
                <a:solidFill>
                  <a:srgbClr val="000000"/>
                </a:solidFill>
                <a:hlinkClick r:id="rId1"/>
              </a:rPr>
              <a:t>n</a:t>
            </a:r>
            <a:r>
              <a:rPr altLang="en-GB" sz="2800" lang="en-US">
                <a:solidFill>
                  <a:srgbClr val="000000"/>
                </a:solidFill>
                <a:hlinkClick r:id="rId1"/>
              </a:rPr>
              <a:t>t</a:t>
            </a:r>
            <a:r>
              <a:rPr altLang="en-GB" sz="2800" lang="en-US">
                <a:solidFill>
                  <a:srgbClr val="000000"/>
                </a:solidFill>
                <a:hlinkClick r:id="rId1"/>
              </a:rPr>
              <a:t>e</a:t>
            </a:r>
            <a:r>
              <a:rPr altLang="en-GB" sz="2800" lang="en-US">
                <a:solidFill>
                  <a:srgbClr val="000000"/>
                </a:solidFill>
                <a:hlinkClick r:id="rId1"/>
              </a:rPr>
              <a:t>r</a:t>
            </a:r>
            <a:r>
              <a:rPr altLang="en-GB" sz="2800" lang="en-US">
                <a:solidFill>
                  <a:srgbClr val="000000"/>
                </a:solidFill>
                <a:hlinkClick r:id="rId1"/>
              </a:rPr>
              <a:t>a</a:t>
            </a:r>
            <a:r>
              <a:rPr altLang="en-GB" sz="2800" lang="en-US">
                <a:solidFill>
                  <a:srgbClr val="000000"/>
                </a:solidFill>
                <a:hlinkClick r:id="rId1"/>
              </a:rPr>
              <a:t>c</a:t>
            </a:r>
            <a:r>
              <a:rPr altLang="en-GB" sz="2800" lang="en-US">
                <a:solidFill>
                  <a:srgbClr val="000000"/>
                </a:solidFill>
                <a:hlinkClick r:id="rId1"/>
              </a:rPr>
              <a:t>t</a:t>
            </a:r>
            <a:r>
              <a:rPr altLang="en-GB" sz="2800" lang="en-US">
                <a:solidFill>
                  <a:srgbClr val="000000"/>
                </a:solidFill>
                <a:hlinkClick r:id="rId1"/>
              </a:rPr>
              <a:t>i</a:t>
            </a:r>
            <a:r>
              <a:rPr altLang="en-GB" sz="2800" lang="en-US">
                <a:solidFill>
                  <a:srgbClr val="000000"/>
                </a:solidFill>
                <a:hlinkClick r:id="rId1"/>
              </a:rPr>
              <a:t>ve</a:t>
            </a:r>
            <a:r>
              <a:rPr altLang="en-GB" sz="2800" lang="en-US">
                <a:solidFill>
                  <a:srgbClr val="000000"/>
                </a:solidFill>
                <a:hlinkClick r:id="rId1"/>
              </a:rPr>
              <a:t> </a:t>
            </a:r>
            <a:r>
              <a:rPr altLang="en-GB" sz="2800" lang="en-US">
                <a:solidFill>
                  <a:srgbClr val="000000"/>
                </a:solidFill>
                <a:hlinkClick r:id="rId1"/>
              </a:rPr>
              <a:t>D</a:t>
            </a:r>
            <a:r>
              <a:rPr altLang="en-GB" sz="2800" lang="en-US">
                <a:solidFill>
                  <a:srgbClr val="000000"/>
                </a:solidFill>
                <a:hlinkClick r:id="rId1"/>
              </a:rPr>
              <a:t>a</a:t>
            </a:r>
            <a:r>
              <a:rPr altLang="en-GB" sz="2800" lang="en-US">
                <a:solidFill>
                  <a:srgbClr val="000000"/>
                </a:solidFill>
                <a:hlinkClick r:id="rId1"/>
              </a:rPr>
              <a:t>s</a:t>
            </a:r>
            <a:r>
              <a:rPr altLang="en-GB" sz="2800" lang="en-US">
                <a:solidFill>
                  <a:srgbClr val="000000"/>
                </a:solidFill>
                <a:hlinkClick r:id="rId1"/>
              </a:rPr>
              <a:t>h</a:t>
            </a:r>
            <a:r>
              <a:rPr altLang="en-GB" sz="2800" lang="en-US">
                <a:solidFill>
                  <a:srgbClr val="000000"/>
                </a:solidFill>
                <a:hlinkClick r:id="rId1"/>
              </a:rPr>
              <a:t>b</a:t>
            </a:r>
            <a:r>
              <a:rPr altLang="en-GB" sz="2800" lang="en-US">
                <a:solidFill>
                  <a:srgbClr val="000000"/>
                </a:solidFill>
                <a:hlinkClick r:id="rId1"/>
              </a:rPr>
              <a:t>o</a:t>
            </a:r>
            <a:r>
              <a:rPr altLang="en-GB" sz="2800" lang="en-US">
                <a:solidFill>
                  <a:srgbClr val="000000"/>
                </a:solidFill>
                <a:hlinkClick r:id="rId1"/>
              </a:rPr>
              <a:t>ard</a:t>
            </a:r>
            <a:r>
              <a:rPr altLang="en-GB" sz="2800" lang="en-US">
                <a:solidFill>
                  <a:srgbClr val="000000"/>
                </a:solidFill>
                <a:hlinkClick r:id="rId1"/>
              </a:rPr>
              <a:t> </a:t>
            </a:r>
            <a:endParaRPr sz="2800"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5"/>
        </a:solidFill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7" name="Shape 0"/>
          <p:cNvSpPr/>
          <p:nvPr/>
        </p:nvSpPr>
        <p:spPr>
          <a:xfrm>
            <a:off x="0" y="0"/>
            <a:ext cx="9144000" cy="822960"/>
          </a:xfrm>
          <a:prstGeom prst="rect"/>
          <a:solidFill>
            <a:srgbClr val="004D2C"/>
          </a:solidFill>
          <a:ln w="12700">
            <a:solidFill>
              <a:srgbClr val="004D2C"/>
            </a:solidFill>
            <a:prstDash val="solid"/>
          </a:ln>
        </p:spPr>
      </p:sp>
      <p:sp>
        <p:nvSpPr>
          <p:cNvPr id="1048578" name="Shape 1"/>
          <p:cNvSpPr/>
          <p:nvPr/>
        </p:nvSpPr>
        <p:spPr>
          <a:xfrm>
            <a:off x="0" y="822960"/>
            <a:ext cx="9144000" cy="5029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579" name="Text 2"/>
          <p:cNvSpPr/>
          <p:nvPr/>
        </p:nvSpPr>
        <p:spPr>
          <a:xfrm>
            <a:off x="411480" y="0"/>
            <a:ext cx="832104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 &amp; Deliverables</a:t>
            </a:r>
            <a:endParaRPr dirty="0" sz="2200" lang="en-US"/>
          </a:p>
        </p:txBody>
      </p:sp>
      <p:sp>
        <p:nvSpPr>
          <p:cNvPr id="1048580" name="Shape 3"/>
          <p:cNvSpPr/>
          <p:nvPr/>
        </p:nvSpPr>
        <p:spPr>
          <a:xfrm>
            <a:off x="201168" y="987552"/>
            <a:ext cx="1993392" cy="1719072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581" name="Text 4"/>
          <p:cNvSpPr/>
          <p:nvPr/>
        </p:nvSpPr>
        <p:spPr>
          <a:xfrm>
            <a:off x="201168" y="1078992"/>
            <a:ext cx="1993392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400" lang="en-US">
                <a:solidFill>
                  <a:srgbClr val="000000"/>
                </a:solidFill>
              </a:rPr>
              <a:t>📐</a:t>
            </a:r>
            <a:endParaRPr dirty="0" sz="2400" lang="en-US"/>
          </a:p>
        </p:txBody>
      </p:sp>
      <p:sp>
        <p:nvSpPr>
          <p:cNvPr id="1048582" name="Text 5"/>
          <p:cNvSpPr/>
          <p:nvPr/>
        </p:nvSpPr>
        <p:spPr>
          <a:xfrm>
            <a:off x="292608" y="1536192"/>
            <a:ext cx="1810512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Prosperity Index</a:t>
            </a:r>
            <a:endParaRPr dirty="0" sz="1000" lang="en-US"/>
          </a:p>
        </p:txBody>
      </p:sp>
      <p:sp>
        <p:nvSpPr>
          <p:cNvPr id="1048583" name="Text 6"/>
          <p:cNvSpPr/>
          <p:nvPr/>
        </p:nvSpPr>
        <p:spPr>
          <a:xfrm>
            <a:off x="292608" y="1920240"/>
            <a:ext cx="1810512" cy="6858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IPI scores and prosperity classifications for all households.</a:t>
            </a:r>
            <a:endParaRPr dirty="0" sz="900" lang="en-US"/>
          </a:p>
        </p:txBody>
      </p:sp>
      <p:sp>
        <p:nvSpPr>
          <p:cNvPr id="1048584" name="Shape 7"/>
          <p:cNvSpPr/>
          <p:nvPr/>
        </p:nvSpPr>
        <p:spPr>
          <a:xfrm>
            <a:off x="2395728" y="987552"/>
            <a:ext cx="1993392" cy="1719072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585" name="Text 8"/>
          <p:cNvSpPr/>
          <p:nvPr/>
        </p:nvSpPr>
        <p:spPr>
          <a:xfrm>
            <a:off x="2395728" y="1078992"/>
            <a:ext cx="1993392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400" lang="en-US">
                <a:solidFill>
                  <a:srgbClr val="000000"/>
                </a:solidFill>
              </a:rPr>
              <a:t>🗺️</a:t>
            </a:r>
            <a:endParaRPr dirty="0" sz="2400" lang="en-US"/>
          </a:p>
        </p:txBody>
      </p:sp>
      <p:sp>
        <p:nvSpPr>
          <p:cNvPr id="1048586" name="Text 9"/>
          <p:cNvSpPr/>
          <p:nvPr/>
        </p:nvSpPr>
        <p:spPr>
          <a:xfrm>
            <a:off x="2487168" y="1536192"/>
            <a:ext cx="1810512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Prosperity Profiles</a:t>
            </a:r>
            <a:endParaRPr dirty="0" sz="1000" lang="en-US"/>
          </a:p>
        </p:txBody>
      </p:sp>
      <p:sp>
        <p:nvSpPr>
          <p:cNvPr id="1048587" name="Text 10"/>
          <p:cNvSpPr/>
          <p:nvPr/>
        </p:nvSpPr>
        <p:spPr>
          <a:xfrm>
            <a:off x="2487168" y="1920240"/>
            <a:ext cx="1810512" cy="6858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prosperity profiles for Central, Eastern, Northern, and Western Uganda.</a:t>
            </a:r>
            <a:endParaRPr dirty="0" sz="900" lang="en-US"/>
          </a:p>
        </p:txBody>
      </p:sp>
      <p:sp>
        <p:nvSpPr>
          <p:cNvPr id="1048588" name="Shape 11"/>
          <p:cNvSpPr/>
          <p:nvPr/>
        </p:nvSpPr>
        <p:spPr>
          <a:xfrm>
            <a:off x="4590288" y="987552"/>
            <a:ext cx="1993392" cy="1719072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589" name="Text 12"/>
          <p:cNvSpPr/>
          <p:nvPr/>
        </p:nvSpPr>
        <p:spPr>
          <a:xfrm>
            <a:off x="4590288" y="1078992"/>
            <a:ext cx="1993392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400" lang="en-US">
                <a:solidFill>
                  <a:srgbClr val="000000"/>
                </a:solidFill>
              </a:rPr>
              <a:t>📊</a:t>
            </a:r>
            <a:endParaRPr dirty="0" sz="2400" lang="en-US"/>
          </a:p>
        </p:txBody>
      </p:sp>
      <p:sp>
        <p:nvSpPr>
          <p:cNvPr id="1048590" name="Text 13"/>
          <p:cNvSpPr/>
          <p:nvPr/>
        </p:nvSpPr>
        <p:spPr>
          <a:xfrm>
            <a:off x="4681728" y="1536192"/>
            <a:ext cx="1810512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&amp; Econometric Results</a:t>
            </a:r>
            <a:endParaRPr dirty="0" sz="1000" lang="en-US"/>
          </a:p>
        </p:txBody>
      </p:sp>
      <p:sp>
        <p:nvSpPr>
          <p:cNvPr id="1048591" name="Text 14"/>
          <p:cNvSpPr/>
          <p:nvPr/>
        </p:nvSpPr>
        <p:spPr>
          <a:xfrm>
            <a:off x="4681728" y="1920240"/>
            <a:ext cx="1810512" cy="6858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outputs, ANOVA tables, correlation matrices, hypothesis test results.</a:t>
            </a:r>
            <a:endParaRPr dirty="0" sz="900" lang="en-US"/>
          </a:p>
        </p:txBody>
      </p:sp>
      <p:sp>
        <p:nvSpPr>
          <p:cNvPr id="1048592" name="Shape 15"/>
          <p:cNvSpPr/>
          <p:nvPr/>
        </p:nvSpPr>
        <p:spPr>
          <a:xfrm>
            <a:off x="6784848" y="987552"/>
            <a:ext cx="1993392" cy="1719072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593" name="Text 16"/>
          <p:cNvSpPr/>
          <p:nvPr/>
        </p:nvSpPr>
        <p:spPr>
          <a:xfrm>
            <a:off x="6784848" y="1078992"/>
            <a:ext cx="1993392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400" lang="en-US">
                <a:solidFill>
                  <a:srgbClr val="000000"/>
                </a:solidFill>
              </a:rPr>
              <a:t>🤖</a:t>
            </a:r>
            <a:endParaRPr dirty="0" sz="2400" lang="en-US"/>
          </a:p>
        </p:txBody>
      </p:sp>
      <p:sp>
        <p:nvSpPr>
          <p:cNvPr id="1048594" name="Text 17"/>
          <p:cNvSpPr/>
          <p:nvPr/>
        </p:nvSpPr>
        <p:spPr>
          <a:xfrm>
            <a:off x="6876288" y="1536192"/>
            <a:ext cx="1810512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Models</a:t>
            </a:r>
            <a:endParaRPr dirty="0" sz="1000" lang="en-US"/>
          </a:p>
        </p:txBody>
      </p:sp>
      <p:sp>
        <p:nvSpPr>
          <p:cNvPr id="1048595" name="Text 18"/>
          <p:cNvSpPr/>
          <p:nvPr/>
        </p:nvSpPr>
        <p:spPr>
          <a:xfrm>
            <a:off x="6876288" y="1920240"/>
            <a:ext cx="1810512" cy="6858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Random Forest and XGBoost models identifying key drivers of prosperity.</a:t>
            </a:r>
            <a:endParaRPr dirty="0" sz="900" lang="en-US"/>
          </a:p>
        </p:txBody>
      </p:sp>
      <p:sp>
        <p:nvSpPr>
          <p:cNvPr id="1048596" name="Shape 19"/>
          <p:cNvSpPr/>
          <p:nvPr/>
        </p:nvSpPr>
        <p:spPr>
          <a:xfrm>
            <a:off x="201168" y="2944368"/>
            <a:ext cx="1993392" cy="1719072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597" name="Text 20"/>
          <p:cNvSpPr/>
          <p:nvPr/>
        </p:nvSpPr>
        <p:spPr>
          <a:xfrm>
            <a:off x="201168" y="3035808"/>
            <a:ext cx="1993392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400" lang="en-US">
                <a:solidFill>
                  <a:srgbClr val="000000"/>
                </a:solidFill>
              </a:rPr>
              <a:t>🔬</a:t>
            </a:r>
            <a:endParaRPr dirty="0" sz="2400" lang="en-US"/>
          </a:p>
        </p:txBody>
      </p:sp>
      <p:sp>
        <p:nvSpPr>
          <p:cNvPr id="1048598" name="Text 21"/>
          <p:cNvSpPr/>
          <p:nvPr/>
        </p:nvSpPr>
        <p:spPr>
          <a:xfrm>
            <a:off x="292608" y="3493008"/>
            <a:ext cx="1810512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Evidence</a:t>
            </a:r>
            <a:endParaRPr dirty="0" sz="1000" lang="en-US"/>
          </a:p>
        </p:txBody>
      </p:sp>
      <p:sp>
        <p:nvSpPr>
          <p:cNvPr id="1048599" name="Text 22"/>
          <p:cNvSpPr/>
          <p:nvPr/>
        </p:nvSpPr>
        <p:spPr>
          <a:xfrm>
            <a:off x="292608" y="3877056"/>
            <a:ext cx="1810512" cy="6858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Six-layer robustness analysis validating reliability of all findings.</a:t>
            </a:r>
            <a:endParaRPr dirty="0" sz="900" lang="en-US"/>
          </a:p>
        </p:txBody>
      </p:sp>
      <p:sp>
        <p:nvSpPr>
          <p:cNvPr id="1048600" name="Shape 23"/>
          <p:cNvSpPr/>
          <p:nvPr/>
        </p:nvSpPr>
        <p:spPr>
          <a:xfrm>
            <a:off x="2395728" y="2944368"/>
            <a:ext cx="1993392" cy="1719072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01" name="Text 24"/>
          <p:cNvSpPr/>
          <p:nvPr/>
        </p:nvSpPr>
        <p:spPr>
          <a:xfrm>
            <a:off x="2395728" y="3035808"/>
            <a:ext cx="1993392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400" lang="en-US">
                <a:solidFill>
                  <a:srgbClr val="000000"/>
                </a:solidFill>
              </a:rPr>
              <a:t>💡</a:t>
            </a:r>
            <a:endParaRPr dirty="0" sz="2400" lang="en-US"/>
          </a:p>
        </p:txBody>
      </p:sp>
      <p:sp>
        <p:nvSpPr>
          <p:cNvPr id="1048602" name="Text 25"/>
          <p:cNvSpPr/>
          <p:nvPr/>
        </p:nvSpPr>
        <p:spPr>
          <a:xfrm>
            <a:off x="2487168" y="3493008"/>
            <a:ext cx="1810512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dirty="0" sz="1000" lang="en-US"/>
          </a:p>
        </p:txBody>
      </p:sp>
      <p:sp>
        <p:nvSpPr>
          <p:cNvPr id="1048603" name="Text 26"/>
          <p:cNvSpPr/>
          <p:nvPr/>
        </p:nvSpPr>
        <p:spPr>
          <a:xfrm>
            <a:off x="2487168" y="3877056"/>
            <a:ext cx="1810512" cy="6858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for policymakers with geospatial mapping and filters.</a:t>
            </a:r>
            <a:endParaRPr dirty="0" sz="900" lang="en-US"/>
          </a:p>
        </p:txBody>
      </p:sp>
      <p:sp>
        <p:nvSpPr>
          <p:cNvPr id="1048604" name="Shape 27"/>
          <p:cNvSpPr/>
          <p:nvPr/>
        </p:nvSpPr>
        <p:spPr>
          <a:xfrm>
            <a:off x="4590288" y="2944368"/>
            <a:ext cx="1993392" cy="1719072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05" name="Text 28"/>
          <p:cNvSpPr/>
          <p:nvPr/>
        </p:nvSpPr>
        <p:spPr>
          <a:xfrm>
            <a:off x="4590288" y="3035808"/>
            <a:ext cx="1993392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400" lang="en-US">
                <a:solidFill>
                  <a:srgbClr val="000000"/>
                </a:solidFill>
              </a:rPr>
              <a:t>📜</a:t>
            </a:r>
            <a:endParaRPr dirty="0" sz="2400" lang="en-US"/>
          </a:p>
        </p:txBody>
      </p:sp>
      <p:sp>
        <p:nvSpPr>
          <p:cNvPr id="1048606" name="Text 29"/>
          <p:cNvSpPr/>
          <p:nvPr/>
        </p:nvSpPr>
        <p:spPr>
          <a:xfrm>
            <a:off x="4681728" y="3493008"/>
            <a:ext cx="1810512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Recommendations</a:t>
            </a:r>
            <a:endParaRPr dirty="0" sz="1000" lang="en-US"/>
          </a:p>
        </p:txBody>
      </p:sp>
      <p:sp>
        <p:nvSpPr>
          <p:cNvPr id="1048607" name="Text 30"/>
          <p:cNvSpPr/>
          <p:nvPr/>
        </p:nvSpPr>
        <p:spPr>
          <a:xfrm>
            <a:off x="4681728" y="3877056"/>
            <a:ext cx="1810512" cy="6858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recommendations for UBOS, MoFPED, and district governments.</a:t>
            </a:r>
            <a:endParaRPr dirty="0" sz="900" lang="en-US"/>
          </a:p>
        </p:txBody>
      </p:sp>
      <p:sp>
        <p:nvSpPr>
          <p:cNvPr id="1048608" name="Shape 31"/>
          <p:cNvSpPr/>
          <p:nvPr/>
        </p:nvSpPr>
        <p:spPr>
          <a:xfrm>
            <a:off x="6784848" y="2944368"/>
            <a:ext cx="1993392" cy="1719072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09" name="Text 32"/>
          <p:cNvSpPr/>
          <p:nvPr/>
        </p:nvSpPr>
        <p:spPr>
          <a:xfrm>
            <a:off x="6784848" y="3035808"/>
            <a:ext cx="1993392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400" lang="en-US">
                <a:solidFill>
                  <a:srgbClr val="000000"/>
                </a:solidFill>
              </a:rPr>
              <a:t>🎤</a:t>
            </a:r>
            <a:endParaRPr dirty="0" sz="2400" lang="en-US"/>
          </a:p>
        </p:txBody>
      </p:sp>
      <p:sp>
        <p:nvSpPr>
          <p:cNvPr id="1048610" name="Text 33"/>
          <p:cNvSpPr/>
          <p:nvPr/>
        </p:nvSpPr>
        <p:spPr>
          <a:xfrm>
            <a:off x="6876288" y="3493008"/>
            <a:ext cx="1810512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Statistics Day 2025</a:t>
            </a:r>
            <a:endParaRPr dirty="0" sz="1000" lang="en-US"/>
          </a:p>
        </p:txBody>
      </p:sp>
      <p:sp>
        <p:nvSpPr>
          <p:cNvPr id="1048611" name="Text 34"/>
          <p:cNvSpPr/>
          <p:nvPr/>
        </p:nvSpPr>
        <p:spPr>
          <a:xfrm>
            <a:off x="6876288" y="3877056"/>
            <a:ext cx="1810512" cy="6858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paper and presentation materials for national dissemination.</a:t>
            </a:r>
            <a:endParaRPr dirty="0" sz="900"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5"/>
        </a:solidFill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Shape 0"/>
          <p:cNvSpPr/>
          <p:nvPr/>
        </p:nvSpPr>
        <p:spPr>
          <a:xfrm>
            <a:off x="0" y="0"/>
            <a:ext cx="9144000" cy="822960"/>
          </a:xfrm>
          <a:prstGeom prst="rect"/>
          <a:solidFill>
            <a:srgbClr val="004D2C"/>
          </a:solidFill>
          <a:ln w="12700">
            <a:solidFill>
              <a:srgbClr val="004D2C"/>
            </a:solidFill>
            <a:prstDash val="solid"/>
          </a:ln>
        </p:spPr>
      </p:sp>
      <p:sp>
        <p:nvSpPr>
          <p:cNvPr id="1048646" name="Shape 1"/>
          <p:cNvSpPr/>
          <p:nvPr/>
        </p:nvSpPr>
        <p:spPr>
          <a:xfrm>
            <a:off x="0" y="822960"/>
            <a:ext cx="9144000" cy="5029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647" name="Text 2"/>
          <p:cNvSpPr/>
          <p:nvPr/>
        </p:nvSpPr>
        <p:spPr>
          <a:xfrm>
            <a:off x="411480" y="0"/>
            <a:ext cx="832104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Policy Contribution</a:t>
            </a:r>
            <a:endParaRPr dirty="0" sz="2200" lang="en-US"/>
          </a:p>
        </p:txBody>
      </p:sp>
      <p:sp>
        <p:nvSpPr>
          <p:cNvPr id="1048648" name="Shape 3"/>
          <p:cNvSpPr/>
          <p:nvPr/>
        </p:nvSpPr>
        <p:spPr>
          <a:xfrm>
            <a:off x="274320" y="960120"/>
            <a:ext cx="8595360" cy="914400"/>
          </a:xfrm>
          <a:prstGeom prst="rect"/>
          <a:solidFill>
            <a:srgbClr val="004D2C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49" name="Text 4"/>
          <p:cNvSpPr/>
          <p:nvPr/>
        </p:nvSpPr>
        <p:spPr>
          <a:xfrm>
            <a:off x="457200" y="1024128"/>
            <a:ext cx="8229600" cy="74980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50" i="1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equips Ugandan policymakers with a validated, multidimensional monitoring tool to identify vulnerable populations and design targeted, evidence-based interventions.</a:t>
            </a:r>
            <a:endParaRPr dirty="0" sz="1250" lang="en-US"/>
          </a:p>
        </p:txBody>
      </p:sp>
      <p:sp>
        <p:nvSpPr>
          <p:cNvPr id="1048650" name="Shape 5"/>
          <p:cNvSpPr/>
          <p:nvPr/>
        </p:nvSpPr>
        <p:spPr>
          <a:xfrm>
            <a:off x="274320" y="2029968"/>
            <a:ext cx="1609344" cy="2633472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51" name="Shape 6"/>
          <p:cNvSpPr/>
          <p:nvPr/>
        </p:nvSpPr>
        <p:spPr>
          <a:xfrm>
            <a:off x="274320" y="2029968"/>
            <a:ext cx="1609344" cy="502920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652" name="Text 7"/>
          <p:cNvSpPr/>
          <p:nvPr/>
        </p:nvSpPr>
        <p:spPr>
          <a:xfrm>
            <a:off x="274320" y="2029968"/>
            <a:ext cx="1609344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000" lang="en-US">
                <a:solidFill>
                  <a:srgbClr val="000000"/>
                </a:solidFill>
              </a:rPr>
              <a:t>🔭</a:t>
            </a:r>
            <a:endParaRPr dirty="0" sz="2000" lang="en-US"/>
          </a:p>
        </p:txBody>
      </p:sp>
      <p:sp>
        <p:nvSpPr>
          <p:cNvPr id="1048653" name="Text 8"/>
          <p:cNvSpPr/>
          <p:nvPr/>
        </p:nvSpPr>
        <p:spPr>
          <a:xfrm>
            <a:off x="365760" y="2596896"/>
            <a:ext cx="1426464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Tool</a:t>
            </a:r>
            <a:endParaRPr dirty="0" sz="1000" lang="en-US"/>
          </a:p>
        </p:txBody>
      </p:sp>
      <p:sp>
        <p:nvSpPr>
          <p:cNvPr id="1048654" name="Text 9"/>
          <p:cNvSpPr/>
          <p:nvPr/>
        </p:nvSpPr>
        <p:spPr>
          <a:xfrm>
            <a:off x="365760" y="2971800"/>
            <a:ext cx="1426464" cy="1554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 serves as an ongoing national monitoring instrument updated with each UNHS cycle.</a:t>
            </a:r>
            <a:endParaRPr dirty="0" sz="950" lang="en-US"/>
          </a:p>
        </p:txBody>
      </p:sp>
      <p:sp>
        <p:nvSpPr>
          <p:cNvPr id="1048655" name="Shape 10"/>
          <p:cNvSpPr/>
          <p:nvPr/>
        </p:nvSpPr>
        <p:spPr>
          <a:xfrm>
            <a:off x="1993392" y="2029968"/>
            <a:ext cx="1609344" cy="2633472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56" name="Shape 11"/>
          <p:cNvSpPr/>
          <p:nvPr/>
        </p:nvSpPr>
        <p:spPr>
          <a:xfrm>
            <a:off x="1993392" y="2029968"/>
            <a:ext cx="1609344" cy="502920"/>
          </a:xfrm>
          <a:prstGeom prst="rect"/>
          <a:solidFill>
            <a:srgbClr val="004D2C"/>
          </a:solidFill>
          <a:ln w="12700">
            <a:solidFill>
              <a:srgbClr val="004D2C"/>
            </a:solidFill>
            <a:prstDash val="solid"/>
          </a:ln>
        </p:spPr>
      </p:sp>
      <p:sp>
        <p:nvSpPr>
          <p:cNvPr id="1048657" name="Text 12"/>
          <p:cNvSpPr/>
          <p:nvPr/>
        </p:nvSpPr>
        <p:spPr>
          <a:xfrm>
            <a:off x="1993392" y="2029968"/>
            <a:ext cx="1609344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000" lang="en-US">
                <a:solidFill>
                  <a:srgbClr val="000000"/>
                </a:solidFill>
              </a:rPr>
              <a:t>🎯</a:t>
            </a:r>
            <a:endParaRPr dirty="0" sz="2000" lang="en-US"/>
          </a:p>
        </p:txBody>
      </p:sp>
      <p:sp>
        <p:nvSpPr>
          <p:cNvPr id="1048658" name="Text 13"/>
          <p:cNvSpPr/>
          <p:nvPr/>
        </p:nvSpPr>
        <p:spPr>
          <a:xfrm>
            <a:off x="2084832" y="2596896"/>
            <a:ext cx="1426464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Interventions</a:t>
            </a:r>
            <a:endParaRPr dirty="0" sz="1000" lang="en-US"/>
          </a:p>
        </p:txBody>
      </p:sp>
      <p:sp>
        <p:nvSpPr>
          <p:cNvPr id="1048659" name="Text 14"/>
          <p:cNvSpPr/>
          <p:nvPr/>
        </p:nvSpPr>
        <p:spPr>
          <a:xfrm>
            <a:off x="2084832" y="2971800"/>
            <a:ext cx="1426464" cy="1554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districts and population groups requiring priority investment across dimensions.</a:t>
            </a:r>
            <a:endParaRPr dirty="0" sz="950" lang="en-US"/>
          </a:p>
        </p:txBody>
      </p:sp>
      <p:sp>
        <p:nvSpPr>
          <p:cNvPr id="1048660" name="Shape 15"/>
          <p:cNvSpPr/>
          <p:nvPr/>
        </p:nvSpPr>
        <p:spPr>
          <a:xfrm>
            <a:off x="3712464" y="2029968"/>
            <a:ext cx="1609344" cy="2633472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61" name="Shape 16"/>
          <p:cNvSpPr/>
          <p:nvPr/>
        </p:nvSpPr>
        <p:spPr>
          <a:xfrm>
            <a:off x="3712464" y="2029968"/>
            <a:ext cx="1609344" cy="502920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662" name="Text 17"/>
          <p:cNvSpPr/>
          <p:nvPr/>
        </p:nvSpPr>
        <p:spPr>
          <a:xfrm>
            <a:off x="3712464" y="2029968"/>
            <a:ext cx="1609344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000" lang="en-US">
                <a:solidFill>
                  <a:srgbClr val="000000"/>
                </a:solidFill>
              </a:rPr>
              <a:t>⚖️</a:t>
            </a:r>
            <a:endParaRPr dirty="0" sz="2000" lang="en-US"/>
          </a:p>
        </p:txBody>
      </p:sp>
      <p:sp>
        <p:nvSpPr>
          <p:cNvPr id="1048663" name="Text 18"/>
          <p:cNvSpPr/>
          <p:nvPr/>
        </p:nvSpPr>
        <p:spPr>
          <a:xfrm>
            <a:off x="3803904" y="2596896"/>
            <a:ext cx="1426464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Justice</a:t>
            </a:r>
            <a:endParaRPr dirty="0" sz="1000" lang="en-US"/>
          </a:p>
        </p:txBody>
      </p:sp>
      <p:sp>
        <p:nvSpPr>
          <p:cNvPr id="1048664" name="Text 19"/>
          <p:cNvSpPr/>
          <p:nvPr/>
        </p:nvSpPr>
        <p:spPr>
          <a:xfrm>
            <a:off x="3803904" y="2971800"/>
            <a:ext cx="1426464" cy="1554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gender, regional, and urban-rural disparities for equity-oriented policy.</a:t>
            </a:r>
            <a:endParaRPr dirty="0" sz="950" lang="en-US"/>
          </a:p>
        </p:txBody>
      </p:sp>
      <p:sp>
        <p:nvSpPr>
          <p:cNvPr id="1048665" name="Shape 20"/>
          <p:cNvSpPr/>
          <p:nvPr/>
        </p:nvSpPr>
        <p:spPr>
          <a:xfrm>
            <a:off x="5431536" y="2029968"/>
            <a:ext cx="1609344" cy="2633472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66" name="Shape 21"/>
          <p:cNvSpPr/>
          <p:nvPr/>
        </p:nvSpPr>
        <p:spPr>
          <a:xfrm>
            <a:off x="5431536" y="2029968"/>
            <a:ext cx="1609344" cy="502920"/>
          </a:xfrm>
          <a:prstGeom prst="rect"/>
          <a:solidFill>
            <a:srgbClr val="004D2C"/>
          </a:solidFill>
          <a:ln w="12700">
            <a:solidFill>
              <a:srgbClr val="004D2C"/>
            </a:solidFill>
            <a:prstDash val="solid"/>
          </a:ln>
        </p:spPr>
      </p:sp>
      <p:sp>
        <p:nvSpPr>
          <p:cNvPr id="1048667" name="Text 22"/>
          <p:cNvSpPr/>
          <p:nvPr/>
        </p:nvSpPr>
        <p:spPr>
          <a:xfrm>
            <a:off x="5431536" y="2029968"/>
            <a:ext cx="1609344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000" lang="en-US">
                <a:solidFill>
                  <a:srgbClr val="000000"/>
                </a:solidFill>
              </a:rPr>
              <a:t>🤝</a:t>
            </a:r>
            <a:endParaRPr dirty="0" sz="2000" lang="en-US"/>
          </a:p>
        </p:txBody>
      </p:sp>
      <p:sp>
        <p:nvSpPr>
          <p:cNvPr id="1048668" name="Text 23"/>
          <p:cNvSpPr/>
          <p:nvPr/>
        </p:nvSpPr>
        <p:spPr>
          <a:xfrm>
            <a:off x="5522976" y="2596896"/>
            <a:ext cx="1426464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Innovation</a:t>
            </a:r>
            <a:endParaRPr dirty="0" sz="1000" lang="en-US"/>
          </a:p>
        </p:txBody>
      </p:sp>
      <p:sp>
        <p:nvSpPr>
          <p:cNvPr id="1048669" name="Text 24"/>
          <p:cNvSpPr/>
          <p:nvPr/>
        </p:nvSpPr>
        <p:spPr>
          <a:xfrm>
            <a:off x="5522976" y="2971800"/>
            <a:ext cx="1426464" cy="1554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the value of combining classical statistics with machine learning in official statistics.</a:t>
            </a:r>
            <a:endParaRPr dirty="0" sz="950" lang="en-US"/>
          </a:p>
        </p:txBody>
      </p:sp>
      <p:sp>
        <p:nvSpPr>
          <p:cNvPr id="1048670" name="Shape 25"/>
          <p:cNvSpPr/>
          <p:nvPr/>
        </p:nvSpPr>
        <p:spPr>
          <a:xfrm>
            <a:off x="7150608" y="2029968"/>
            <a:ext cx="1609344" cy="2633472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71" name="Shape 26"/>
          <p:cNvSpPr/>
          <p:nvPr/>
        </p:nvSpPr>
        <p:spPr>
          <a:xfrm>
            <a:off x="7150608" y="2029968"/>
            <a:ext cx="1609344" cy="502920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672" name="Text 27"/>
          <p:cNvSpPr/>
          <p:nvPr/>
        </p:nvSpPr>
        <p:spPr>
          <a:xfrm>
            <a:off x="7150608" y="2029968"/>
            <a:ext cx="1609344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000" lang="en-US">
                <a:solidFill>
                  <a:srgbClr val="000000"/>
                </a:solidFill>
              </a:rPr>
              <a:t>🌍</a:t>
            </a:r>
            <a:endParaRPr dirty="0" sz="2000" lang="en-US"/>
          </a:p>
        </p:txBody>
      </p:sp>
      <p:sp>
        <p:nvSpPr>
          <p:cNvPr id="1048673" name="Text 28"/>
          <p:cNvSpPr/>
          <p:nvPr/>
        </p:nvSpPr>
        <p:spPr>
          <a:xfrm>
            <a:off x="7242048" y="2596896"/>
            <a:ext cx="1426464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Replication</a:t>
            </a:r>
            <a:endParaRPr dirty="0" sz="1000" lang="en-US"/>
          </a:p>
        </p:txBody>
      </p:sp>
      <p:sp>
        <p:nvSpPr>
          <p:cNvPr id="1048674" name="Text 29"/>
          <p:cNvSpPr/>
          <p:nvPr/>
        </p:nvSpPr>
        <p:spPr>
          <a:xfrm>
            <a:off x="7242048" y="2971800"/>
            <a:ext cx="1426464" cy="1554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replicable across East Africa using comparable household survey data.</a:t>
            </a:r>
            <a:endParaRPr dirty="0" sz="950"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5"/>
        </a:solidFill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Shape 0"/>
          <p:cNvSpPr/>
          <p:nvPr/>
        </p:nvSpPr>
        <p:spPr>
          <a:xfrm>
            <a:off x="0" y="0"/>
            <a:ext cx="9144000" cy="822960"/>
          </a:xfrm>
          <a:prstGeom prst="rect"/>
          <a:solidFill>
            <a:srgbClr val="004D2C"/>
          </a:solidFill>
          <a:ln w="12700">
            <a:solidFill>
              <a:srgbClr val="004D2C"/>
            </a:solidFill>
            <a:prstDash val="solid"/>
          </a:ln>
        </p:spPr>
      </p:sp>
      <p:sp>
        <p:nvSpPr>
          <p:cNvPr id="1048716" name="Shape 1"/>
          <p:cNvSpPr/>
          <p:nvPr/>
        </p:nvSpPr>
        <p:spPr>
          <a:xfrm>
            <a:off x="0" y="822960"/>
            <a:ext cx="9144000" cy="5029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717" name="Text 2"/>
          <p:cNvSpPr/>
          <p:nvPr/>
        </p:nvSpPr>
        <p:spPr>
          <a:xfrm>
            <a:off x="411480" y="0"/>
            <a:ext cx="832104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Questions Being Answered</a:t>
            </a:r>
            <a:endParaRPr dirty="0" sz="2200" lang="en-US"/>
          </a:p>
        </p:txBody>
      </p:sp>
      <p:sp>
        <p:nvSpPr>
          <p:cNvPr id="1048718" name="Shape 3"/>
          <p:cNvSpPr/>
          <p:nvPr/>
        </p:nvSpPr>
        <p:spPr>
          <a:xfrm>
            <a:off x="274320" y="987552"/>
            <a:ext cx="8595360" cy="59436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19" name="Shape 4"/>
          <p:cNvSpPr/>
          <p:nvPr/>
        </p:nvSpPr>
        <p:spPr>
          <a:xfrm>
            <a:off x="274320" y="987552"/>
            <a:ext cx="384048" cy="594360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720" name="Text 5"/>
          <p:cNvSpPr/>
          <p:nvPr/>
        </p:nvSpPr>
        <p:spPr>
          <a:xfrm>
            <a:off x="274320" y="987552"/>
            <a:ext cx="384048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dirty="0" sz="1100" lang="en-US"/>
          </a:p>
        </p:txBody>
      </p:sp>
      <p:sp>
        <p:nvSpPr>
          <p:cNvPr id="1048721" name="Text 6"/>
          <p:cNvSpPr/>
          <p:nvPr/>
        </p:nvSpPr>
        <p:spPr>
          <a:xfrm>
            <a:off x="749808" y="1033272"/>
            <a:ext cx="502920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level of inclusive prosperity among households in Uganda?</a:t>
            </a:r>
            <a:endParaRPr dirty="0" sz="1050" lang="en-US"/>
          </a:p>
        </p:txBody>
      </p:sp>
      <p:sp>
        <p:nvSpPr>
          <p:cNvPr id="1048722" name="Shape 7"/>
          <p:cNvSpPr/>
          <p:nvPr/>
        </p:nvSpPr>
        <p:spPr>
          <a:xfrm>
            <a:off x="5897880" y="1060704"/>
            <a:ext cx="73152" cy="438912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723" name="Text 8"/>
          <p:cNvSpPr/>
          <p:nvPr/>
        </p:nvSpPr>
        <p:spPr>
          <a:xfrm>
            <a:off x="6080760" y="1060704"/>
            <a:ext cx="2606040" cy="43891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i="1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 Score Distribution &amp; Classification (Phase 2)</a:t>
            </a:r>
            <a:endParaRPr dirty="0" sz="950" lang="en-US"/>
          </a:p>
        </p:txBody>
      </p:sp>
      <p:sp>
        <p:nvSpPr>
          <p:cNvPr id="1048724" name="Shape 9"/>
          <p:cNvSpPr/>
          <p:nvPr/>
        </p:nvSpPr>
        <p:spPr>
          <a:xfrm>
            <a:off x="274320" y="1655064"/>
            <a:ext cx="8595360" cy="59436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25" name="Shape 10"/>
          <p:cNvSpPr/>
          <p:nvPr/>
        </p:nvSpPr>
        <p:spPr>
          <a:xfrm>
            <a:off x="274320" y="1655064"/>
            <a:ext cx="384048" cy="594360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726" name="Text 11"/>
          <p:cNvSpPr/>
          <p:nvPr/>
        </p:nvSpPr>
        <p:spPr>
          <a:xfrm>
            <a:off x="274320" y="1655064"/>
            <a:ext cx="384048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dirty="0" sz="1100" lang="en-US"/>
          </a:p>
        </p:txBody>
      </p:sp>
      <p:sp>
        <p:nvSpPr>
          <p:cNvPr id="1048727" name="Text 12"/>
          <p:cNvSpPr/>
          <p:nvPr/>
        </p:nvSpPr>
        <p:spPr>
          <a:xfrm>
            <a:off x="749808" y="1700784"/>
            <a:ext cx="502920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prosperity vary across regions, genders, and urban-rural locations?</a:t>
            </a:r>
            <a:endParaRPr dirty="0" sz="1050" lang="en-US"/>
          </a:p>
        </p:txBody>
      </p:sp>
      <p:sp>
        <p:nvSpPr>
          <p:cNvPr id="1048728" name="Shape 13"/>
          <p:cNvSpPr/>
          <p:nvPr/>
        </p:nvSpPr>
        <p:spPr>
          <a:xfrm>
            <a:off x="5897880" y="1728216"/>
            <a:ext cx="73152" cy="438912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729" name="Text 14"/>
          <p:cNvSpPr/>
          <p:nvPr/>
        </p:nvSpPr>
        <p:spPr>
          <a:xfrm>
            <a:off x="6080760" y="1728216"/>
            <a:ext cx="2606040" cy="43891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i="1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&amp; Cross-tabulations (Phase 3)</a:t>
            </a:r>
            <a:endParaRPr dirty="0" sz="950" lang="en-US"/>
          </a:p>
        </p:txBody>
      </p:sp>
      <p:sp>
        <p:nvSpPr>
          <p:cNvPr id="1048730" name="Shape 15"/>
          <p:cNvSpPr/>
          <p:nvPr/>
        </p:nvSpPr>
        <p:spPr>
          <a:xfrm>
            <a:off x="274320" y="2322576"/>
            <a:ext cx="8595360" cy="59436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31" name="Shape 16"/>
          <p:cNvSpPr/>
          <p:nvPr/>
        </p:nvSpPr>
        <p:spPr>
          <a:xfrm>
            <a:off x="274320" y="2322576"/>
            <a:ext cx="384048" cy="594360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732" name="Text 17"/>
          <p:cNvSpPr/>
          <p:nvPr/>
        </p:nvSpPr>
        <p:spPr>
          <a:xfrm>
            <a:off x="274320" y="2322576"/>
            <a:ext cx="384048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dirty="0" sz="1100" lang="en-US"/>
          </a:p>
        </p:txBody>
      </p:sp>
      <p:sp>
        <p:nvSpPr>
          <p:cNvPr id="1048733" name="Text 18"/>
          <p:cNvSpPr/>
          <p:nvPr/>
        </p:nvSpPr>
        <p:spPr>
          <a:xfrm>
            <a:off x="749808" y="2368296"/>
            <a:ext cx="502920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socioeconomic factors significantly influence household prosperity?</a:t>
            </a:r>
            <a:endParaRPr dirty="0" sz="1050" lang="en-US"/>
          </a:p>
        </p:txBody>
      </p:sp>
      <p:sp>
        <p:nvSpPr>
          <p:cNvPr id="1048734" name="Shape 19"/>
          <p:cNvSpPr/>
          <p:nvPr/>
        </p:nvSpPr>
        <p:spPr>
          <a:xfrm>
            <a:off x="5897880" y="2395728"/>
            <a:ext cx="73152" cy="438912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735" name="Text 20"/>
          <p:cNvSpPr/>
          <p:nvPr/>
        </p:nvSpPr>
        <p:spPr>
          <a:xfrm>
            <a:off x="6080760" y="2395728"/>
            <a:ext cx="2606040" cy="43891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i="1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ANOVA with survey weights (Phase 4)</a:t>
            </a:r>
            <a:endParaRPr dirty="0" sz="950" lang="en-US"/>
          </a:p>
        </p:txBody>
      </p:sp>
      <p:sp>
        <p:nvSpPr>
          <p:cNvPr id="1048736" name="Shape 21"/>
          <p:cNvSpPr/>
          <p:nvPr/>
        </p:nvSpPr>
        <p:spPr>
          <a:xfrm>
            <a:off x="274320" y="2990088"/>
            <a:ext cx="8595360" cy="59436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37" name="Shape 22"/>
          <p:cNvSpPr/>
          <p:nvPr/>
        </p:nvSpPr>
        <p:spPr>
          <a:xfrm>
            <a:off x="274320" y="2990088"/>
            <a:ext cx="384048" cy="594360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738" name="Text 23"/>
          <p:cNvSpPr/>
          <p:nvPr/>
        </p:nvSpPr>
        <p:spPr>
          <a:xfrm>
            <a:off x="274320" y="2990088"/>
            <a:ext cx="384048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dirty="0" sz="1100" lang="en-US"/>
          </a:p>
        </p:txBody>
      </p:sp>
      <p:sp>
        <p:nvSpPr>
          <p:cNvPr id="1048739" name="Text 24"/>
          <p:cNvSpPr/>
          <p:nvPr/>
        </p:nvSpPr>
        <p:spPr>
          <a:xfrm>
            <a:off x="749808" y="3035808"/>
            <a:ext cx="502920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machine learning accurately predict household prosperity?</a:t>
            </a:r>
            <a:endParaRPr dirty="0" sz="1050" lang="en-US"/>
          </a:p>
        </p:txBody>
      </p:sp>
      <p:sp>
        <p:nvSpPr>
          <p:cNvPr id="1048740" name="Shape 25"/>
          <p:cNvSpPr/>
          <p:nvPr/>
        </p:nvSpPr>
        <p:spPr>
          <a:xfrm>
            <a:off x="5897880" y="3063240"/>
            <a:ext cx="73152" cy="438912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741" name="Text 26"/>
          <p:cNvSpPr/>
          <p:nvPr/>
        </p:nvSpPr>
        <p:spPr>
          <a:xfrm>
            <a:off x="6080760" y="3063240"/>
            <a:ext cx="2606040" cy="43891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i="1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XGBoost with ROC-AUC evaluation (Phase 5)</a:t>
            </a:r>
            <a:endParaRPr dirty="0" sz="950" lang="en-US"/>
          </a:p>
        </p:txBody>
      </p:sp>
      <p:sp>
        <p:nvSpPr>
          <p:cNvPr id="1048742" name="Shape 27"/>
          <p:cNvSpPr/>
          <p:nvPr/>
        </p:nvSpPr>
        <p:spPr>
          <a:xfrm>
            <a:off x="274320" y="3657600"/>
            <a:ext cx="8595360" cy="59436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43" name="Shape 28"/>
          <p:cNvSpPr/>
          <p:nvPr/>
        </p:nvSpPr>
        <p:spPr>
          <a:xfrm>
            <a:off x="274320" y="3657600"/>
            <a:ext cx="384048" cy="594360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744" name="Text 29"/>
          <p:cNvSpPr/>
          <p:nvPr/>
        </p:nvSpPr>
        <p:spPr>
          <a:xfrm>
            <a:off x="274320" y="3657600"/>
            <a:ext cx="384048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dirty="0" sz="1100" lang="en-US"/>
          </a:p>
        </p:txBody>
      </p:sp>
      <p:sp>
        <p:nvSpPr>
          <p:cNvPr id="1048745" name="Text 30"/>
          <p:cNvSpPr/>
          <p:nvPr/>
        </p:nvSpPr>
        <p:spPr>
          <a:xfrm>
            <a:off x="749808" y="3703320"/>
            <a:ext cx="502920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findings robust across alternative methods?</a:t>
            </a:r>
            <a:endParaRPr dirty="0" sz="1050" lang="en-US"/>
          </a:p>
        </p:txBody>
      </p:sp>
      <p:sp>
        <p:nvSpPr>
          <p:cNvPr id="1048746" name="Shape 31"/>
          <p:cNvSpPr/>
          <p:nvPr/>
        </p:nvSpPr>
        <p:spPr>
          <a:xfrm>
            <a:off x="5897880" y="3730752"/>
            <a:ext cx="73152" cy="438912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747" name="Text 32"/>
          <p:cNvSpPr/>
          <p:nvPr/>
        </p:nvSpPr>
        <p:spPr>
          <a:xfrm>
            <a:off x="6080760" y="3730752"/>
            <a:ext cx="2606040" cy="43891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i="1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Six-layer robustness &amp; sensitivity analysis (Phase 6)</a:t>
            </a:r>
            <a:endParaRPr dirty="0" sz="950" lang="en-US"/>
          </a:p>
        </p:txBody>
      </p:sp>
      <p:sp>
        <p:nvSpPr>
          <p:cNvPr id="1048748" name="Shape 33"/>
          <p:cNvSpPr/>
          <p:nvPr/>
        </p:nvSpPr>
        <p:spPr>
          <a:xfrm>
            <a:off x="274320" y="4325112"/>
            <a:ext cx="8595360" cy="594360"/>
          </a:xfrm>
          <a:prstGeom prst="rect"/>
          <a:solidFill>
            <a:srgbClr val="FFFFFF"/>
          </a:solidFill>
          <a:ln w="6350">
            <a:solidFill>
              <a:srgbClr val="E0EAE4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49" name="Shape 34"/>
          <p:cNvSpPr/>
          <p:nvPr/>
        </p:nvSpPr>
        <p:spPr>
          <a:xfrm>
            <a:off x="274320" y="4325112"/>
            <a:ext cx="384048" cy="594360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8750" name="Text 35"/>
          <p:cNvSpPr/>
          <p:nvPr/>
        </p:nvSpPr>
        <p:spPr>
          <a:xfrm>
            <a:off x="274320" y="4325112"/>
            <a:ext cx="384048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dirty="0" sz="1100" lang="en-US"/>
          </a:p>
        </p:txBody>
      </p:sp>
      <p:sp>
        <p:nvSpPr>
          <p:cNvPr id="1048751" name="Text 36"/>
          <p:cNvSpPr/>
          <p:nvPr/>
        </p:nvSpPr>
        <p:spPr>
          <a:xfrm>
            <a:off x="749808" y="4370832"/>
            <a:ext cx="502920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data insights improve policy and resource allocation?</a:t>
            </a:r>
            <a:endParaRPr dirty="0" sz="1050" lang="en-US"/>
          </a:p>
        </p:txBody>
      </p:sp>
      <p:sp>
        <p:nvSpPr>
          <p:cNvPr id="1048752" name="Shape 37"/>
          <p:cNvSpPr/>
          <p:nvPr/>
        </p:nvSpPr>
        <p:spPr>
          <a:xfrm>
            <a:off x="5897880" y="4398264"/>
            <a:ext cx="73152" cy="438912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8753" name="Text 38"/>
          <p:cNvSpPr/>
          <p:nvPr/>
        </p:nvSpPr>
        <p:spPr>
          <a:xfrm>
            <a:off x="6080760" y="4398264"/>
            <a:ext cx="2606040" cy="43891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i="1" lang="en-US">
                <a:solidFill>
                  <a:srgbClr val="00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&amp; policy recommendations (Phase 7–8)</a:t>
            </a:r>
            <a:endParaRPr dirty="0" sz="950"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4D2C"/>
        </a:solidFill>
      </p:bgPr>
    </p:bg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8" name="Shape 0"/>
          <p:cNvSpPr/>
          <p:nvPr/>
        </p:nvSpPr>
        <p:spPr>
          <a:xfrm>
            <a:off x="6035040" y="0"/>
            <a:ext cx="3108960" cy="5143500"/>
          </a:xfrm>
          <a:prstGeom prst="rect"/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1049049" name="Shape 1"/>
          <p:cNvSpPr/>
          <p:nvPr/>
        </p:nvSpPr>
        <p:spPr>
          <a:xfrm>
            <a:off x="5989320" y="0"/>
            <a:ext cx="73152" cy="5143500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50" name="Shape 2"/>
          <p:cNvSpPr/>
          <p:nvPr/>
        </p:nvSpPr>
        <p:spPr>
          <a:xfrm>
            <a:off x="6583680" y="457200"/>
            <a:ext cx="1645920" cy="1645920"/>
          </a:xfrm>
          <a:prstGeom prst="ellipse"/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49051" name="Shape 3"/>
          <p:cNvSpPr/>
          <p:nvPr/>
        </p:nvSpPr>
        <p:spPr>
          <a:xfrm>
            <a:off x="7132320" y="2743200"/>
            <a:ext cx="1097280" cy="1097280"/>
          </a:xfrm>
          <a:prstGeom prst="ellipse"/>
          <a:solidFill>
            <a:srgbClr val="D4A017">
              <a:alpha val="30000"/>
            </a:srgbClr>
          </a:solidFill>
          <a:ln w="12700">
            <a:solidFill>
              <a:srgbClr val="D4A017">
                <a:alpha val="30000"/>
              </a:srgbClr>
            </a:solidFill>
            <a:prstDash val="solid"/>
          </a:ln>
        </p:spPr>
      </p:sp>
      <p:sp>
        <p:nvSpPr>
          <p:cNvPr id="1049052" name="Text 4"/>
          <p:cNvSpPr/>
          <p:nvPr/>
        </p:nvSpPr>
        <p:spPr>
          <a:xfrm>
            <a:off x="6126480" y="502920"/>
            <a:ext cx="283464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dirty="0" sz="1100" lang="en-US"/>
          </a:p>
        </p:txBody>
      </p:sp>
      <p:sp>
        <p:nvSpPr>
          <p:cNvPr id="1049053" name="Shape 5"/>
          <p:cNvSpPr/>
          <p:nvPr/>
        </p:nvSpPr>
        <p:spPr>
          <a:xfrm>
            <a:off x="6172200" y="914400"/>
            <a:ext cx="164592" cy="16459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54" name="Text 6"/>
          <p:cNvSpPr/>
          <p:nvPr/>
        </p:nvSpPr>
        <p:spPr>
          <a:xfrm>
            <a:off x="6446520" y="877824"/>
            <a:ext cx="246888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Multidimensional IPI for Uganda</a:t>
            </a:r>
            <a:endParaRPr dirty="0" sz="1000" lang="en-US"/>
          </a:p>
        </p:txBody>
      </p:sp>
      <p:sp>
        <p:nvSpPr>
          <p:cNvPr id="1049055" name="Shape 7"/>
          <p:cNvSpPr/>
          <p:nvPr/>
        </p:nvSpPr>
        <p:spPr>
          <a:xfrm>
            <a:off x="6172200" y="1554480"/>
            <a:ext cx="164592" cy="16459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56" name="Text 8"/>
          <p:cNvSpPr/>
          <p:nvPr/>
        </p:nvSpPr>
        <p:spPr>
          <a:xfrm>
            <a:off x="6446520" y="1517904"/>
            <a:ext cx="246888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8-Phase rigorous methodology</a:t>
            </a:r>
            <a:endParaRPr dirty="0" sz="1000" lang="en-US"/>
          </a:p>
        </p:txBody>
      </p:sp>
      <p:sp>
        <p:nvSpPr>
          <p:cNvPr id="1049057" name="Shape 9"/>
          <p:cNvSpPr/>
          <p:nvPr/>
        </p:nvSpPr>
        <p:spPr>
          <a:xfrm>
            <a:off x="6172200" y="2194560"/>
            <a:ext cx="164592" cy="16459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58" name="Text 10"/>
          <p:cNvSpPr/>
          <p:nvPr/>
        </p:nvSpPr>
        <p:spPr>
          <a:xfrm>
            <a:off x="6446520" y="2157984"/>
            <a:ext cx="246888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Statistics combined</a:t>
            </a:r>
            <a:endParaRPr dirty="0" sz="1000" lang="en-US"/>
          </a:p>
        </p:txBody>
      </p:sp>
      <p:sp>
        <p:nvSpPr>
          <p:cNvPr id="1049059" name="Shape 11"/>
          <p:cNvSpPr/>
          <p:nvPr/>
        </p:nvSpPr>
        <p:spPr>
          <a:xfrm>
            <a:off x="6172200" y="2834640"/>
            <a:ext cx="164592" cy="16459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60" name="Text 12"/>
          <p:cNvSpPr/>
          <p:nvPr/>
        </p:nvSpPr>
        <p:spPr>
          <a:xfrm>
            <a:off x="6446520" y="2798064"/>
            <a:ext cx="246888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policymakers</a:t>
            </a:r>
            <a:endParaRPr dirty="0" sz="1000" lang="en-US"/>
          </a:p>
        </p:txBody>
      </p:sp>
      <p:sp>
        <p:nvSpPr>
          <p:cNvPr id="1049061" name="Shape 13"/>
          <p:cNvSpPr/>
          <p:nvPr/>
        </p:nvSpPr>
        <p:spPr>
          <a:xfrm>
            <a:off x="6172200" y="3474720"/>
            <a:ext cx="164592" cy="16459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62" name="Text 14"/>
          <p:cNvSpPr/>
          <p:nvPr/>
        </p:nvSpPr>
        <p:spPr>
          <a:xfrm>
            <a:off x="6446520" y="3438144"/>
            <a:ext cx="246888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Statistics Day 2025</a:t>
            </a:r>
            <a:endParaRPr dirty="0" sz="1000" lang="en-US"/>
          </a:p>
        </p:txBody>
      </p:sp>
      <p:sp>
        <p:nvSpPr>
          <p:cNvPr id="1049063" name="Text 15"/>
          <p:cNvSpPr/>
          <p:nvPr/>
        </p:nvSpPr>
        <p:spPr>
          <a:xfrm>
            <a:off x="411480" y="502920"/>
            <a:ext cx="530352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kern="0" lang="en-US" spc="50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dirty="0" sz="1300" lang="en-US"/>
          </a:p>
        </p:txBody>
      </p:sp>
      <p:sp>
        <p:nvSpPr>
          <p:cNvPr id="1049064" name="Text 16"/>
          <p:cNvSpPr/>
          <p:nvPr/>
        </p:nvSpPr>
        <p:spPr>
          <a:xfrm>
            <a:off x="411480" y="1005840"/>
            <a:ext cx="530352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first-of-its-kind Inclusive Prosperity Index for Uganda</a:t>
            </a:r>
            <a:endParaRPr dirty="0" sz="1700" lang="en-US"/>
          </a:p>
        </p:txBody>
      </p:sp>
      <p:sp>
        <p:nvSpPr>
          <p:cNvPr id="1049065" name="Shape 17"/>
          <p:cNvSpPr/>
          <p:nvPr/>
        </p:nvSpPr>
        <p:spPr>
          <a:xfrm>
            <a:off x="411480" y="1664208"/>
            <a:ext cx="109728" cy="25603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66" name="Text 18"/>
          <p:cNvSpPr/>
          <p:nvPr/>
        </p:nvSpPr>
        <p:spPr>
          <a:xfrm>
            <a:off x="621792" y="1664208"/>
            <a:ext cx="51206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PCA, econometrics &amp; ML in one framework</a:t>
            </a:r>
            <a:endParaRPr dirty="0" sz="1100" lang="en-US"/>
          </a:p>
        </p:txBody>
      </p:sp>
      <p:sp>
        <p:nvSpPr>
          <p:cNvPr id="1049067" name="Shape 19"/>
          <p:cNvSpPr/>
          <p:nvPr/>
        </p:nvSpPr>
        <p:spPr>
          <a:xfrm>
            <a:off x="411480" y="2148840"/>
            <a:ext cx="109728" cy="25603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68" name="Text 20"/>
          <p:cNvSpPr/>
          <p:nvPr/>
        </p:nvSpPr>
        <p:spPr>
          <a:xfrm>
            <a:off x="621792" y="2148840"/>
            <a:ext cx="51206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objective, data-driven prosperity scores</a:t>
            </a:r>
            <a:endParaRPr dirty="0" sz="1100" lang="en-US"/>
          </a:p>
        </p:txBody>
      </p:sp>
      <p:sp>
        <p:nvSpPr>
          <p:cNvPr id="1049069" name="Shape 21"/>
          <p:cNvSpPr/>
          <p:nvPr/>
        </p:nvSpPr>
        <p:spPr>
          <a:xfrm>
            <a:off x="411480" y="2633472"/>
            <a:ext cx="109728" cy="25603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70" name="Text 22"/>
          <p:cNvSpPr/>
          <p:nvPr/>
        </p:nvSpPr>
        <p:spPr>
          <a:xfrm>
            <a:off x="621792" y="2633472"/>
            <a:ext cx="51206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vulnerable populations by region, gender &amp; location</a:t>
            </a:r>
            <a:endParaRPr dirty="0" sz="1100" lang="en-US"/>
          </a:p>
        </p:txBody>
      </p:sp>
      <p:sp>
        <p:nvSpPr>
          <p:cNvPr id="1049071" name="Shape 23"/>
          <p:cNvSpPr/>
          <p:nvPr/>
        </p:nvSpPr>
        <p:spPr>
          <a:xfrm>
            <a:off x="411480" y="3118104"/>
            <a:ext cx="109728" cy="25603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72" name="Text 24"/>
          <p:cNvSpPr/>
          <p:nvPr/>
        </p:nvSpPr>
        <p:spPr>
          <a:xfrm>
            <a:off x="621792" y="3118104"/>
            <a:ext cx="51206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an actionable Power BI policy dashboard</a:t>
            </a:r>
            <a:endParaRPr dirty="0" sz="1100" lang="en-US"/>
          </a:p>
        </p:txBody>
      </p:sp>
      <p:sp>
        <p:nvSpPr>
          <p:cNvPr id="1049073" name="Shape 25"/>
          <p:cNvSpPr/>
          <p:nvPr/>
        </p:nvSpPr>
        <p:spPr>
          <a:xfrm>
            <a:off x="411480" y="3602736"/>
            <a:ext cx="109728" cy="256032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74" name="Text 26"/>
          <p:cNvSpPr/>
          <p:nvPr/>
        </p:nvSpPr>
        <p:spPr>
          <a:xfrm>
            <a:off x="621792" y="3602736"/>
            <a:ext cx="51206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 to Africa's data-driven development agenda</a:t>
            </a:r>
            <a:endParaRPr dirty="0" sz="1100" lang="en-US"/>
          </a:p>
        </p:txBody>
      </p:sp>
      <p:sp>
        <p:nvSpPr>
          <p:cNvPr id="1049075" name="Shape 27"/>
          <p:cNvSpPr/>
          <p:nvPr/>
        </p:nvSpPr>
        <p:spPr>
          <a:xfrm>
            <a:off x="411480" y="4224528"/>
            <a:ext cx="5303520" cy="54864"/>
          </a:xfrm>
          <a:prstGeom prst="rect"/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49076" name="Text 28"/>
          <p:cNvSpPr/>
          <p:nvPr/>
        </p:nvSpPr>
        <p:spPr>
          <a:xfrm>
            <a:off x="411480" y="4343400"/>
            <a:ext cx="530352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i="1" lang="en-US">
                <a:solidFill>
                  <a:srgbClr val="7A9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African Statistics Day 2025  |  Uganda Bureau of Statistics</a:t>
            </a:r>
            <a:endParaRPr dirty="0" sz="10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Inclusive Prosperity Index for Uganda</dc:title>
  <dc:creator>Jesse</dc:creator>
  <cp:lastModifiedBy>Jesse</cp:lastModifiedBy>
  <dcterms:created xsi:type="dcterms:W3CDTF">2026-06-05T06:02:38Z</dcterms:created>
  <dcterms:modified xsi:type="dcterms:W3CDTF">2026-06-16T04:35:52Z</dcterms:modified>
</cp:coreProperties>
</file>